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59" r:id="rId3"/>
    <p:sldId id="260" r:id="rId4"/>
    <p:sldId id="261" r:id="rId5"/>
    <p:sldId id="262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60"/>
    <p:restoredTop sz="94589"/>
  </p:normalViewPr>
  <p:slideViewPr>
    <p:cSldViewPr snapToGrid="0">
      <p:cViewPr varScale="1">
        <p:scale>
          <a:sx n="120" d="100"/>
          <a:sy n="120" d="100"/>
        </p:scale>
        <p:origin x="87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Curtailed Load</a:t>
            </a:r>
            <a:r>
              <a:rPr lang="en-US" baseline="0"/>
              <a:t> vs. Battery Capacity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 event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Sheet1!$A$2:$A$13</c:f>
              <c:numCache>
                <c:formatCode>General</c:formatCod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8</c:v>
                </c:pt>
                <c:pt idx="6">
                  <c:v>12</c:v>
                </c:pt>
                <c:pt idx="7">
                  <c:v>18</c:v>
                </c:pt>
                <c:pt idx="8">
                  <c:v>21</c:v>
                </c:pt>
                <c:pt idx="9">
                  <c:v>22</c:v>
                </c:pt>
                <c:pt idx="10">
                  <c:v>23</c:v>
                </c:pt>
                <c:pt idx="11">
                  <c:v>24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40.25</c:v>
                </c:pt>
                <c:pt idx="1">
                  <c:v>31.45</c:v>
                </c:pt>
                <c:pt idx="2">
                  <c:v>25.15</c:v>
                </c:pt>
                <c:pt idx="3">
                  <c:v>21.37</c:v>
                </c:pt>
                <c:pt idx="4">
                  <c:v>19.89</c:v>
                </c:pt>
                <c:pt idx="5">
                  <c:v>15.89</c:v>
                </c:pt>
                <c:pt idx="6">
                  <c:v>11.89</c:v>
                </c:pt>
                <c:pt idx="7">
                  <c:v>5.89</c:v>
                </c:pt>
                <c:pt idx="8">
                  <c:v>2.89</c:v>
                </c:pt>
                <c:pt idx="9">
                  <c:v>1.89</c:v>
                </c:pt>
                <c:pt idx="10">
                  <c:v>0.89</c:v>
                </c:pt>
                <c:pt idx="11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650D-C94F-98E9-B0203B226E0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without event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Sheet1!$A$2:$A$13</c:f>
              <c:numCache>
                <c:formatCode>General</c:formatCode>
                <c:ptCount val="12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8</c:v>
                </c:pt>
                <c:pt idx="6">
                  <c:v>12</c:v>
                </c:pt>
                <c:pt idx="7">
                  <c:v>18</c:v>
                </c:pt>
                <c:pt idx="8">
                  <c:v>21</c:v>
                </c:pt>
                <c:pt idx="9">
                  <c:v>22</c:v>
                </c:pt>
                <c:pt idx="10">
                  <c:v>23</c:v>
                </c:pt>
                <c:pt idx="11">
                  <c:v>24</c:v>
                </c:pt>
              </c:numCache>
            </c:numRef>
          </c:xVal>
          <c:yVal>
            <c:numRef>
              <c:f>Sheet1!$C$2:$C$13</c:f>
              <c:numCache>
                <c:formatCode>General</c:formatCode>
                <c:ptCount val="12"/>
                <c:pt idx="0">
                  <c:v>10.86</c:v>
                </c:pt>
                <c:pt idx="1">
                  <c:v>5.15</c:v>
                </c:pt>
                <c:pt idx="2">
                  <c:v>1.82</c:v>
                </c:pt>
                <c:pt idx="3">
                  <c:v>0.24</c:v>
                </c:pt>
                <c:pt idx="4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650D-C94F-98E9-B0203B226E0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13707440"/>
        <c:axId val="313709808"/>
      </c:scatterChart>
      <c:valAx>
        <c:axId val="31370744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batter</a:t>
                </a:r>
                <a:r>
                  <a:rPr lang="en-US" baseline="0"/>
                  <a:t> capacity [GWh]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13709808"/>
        <c:crosses val="autoZero"/>
        <c:crossBetween val="midCat"/>
      </c:valAx>
      <c:valAx>
        <c:axId val="3137098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curtailed load [GWh]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13707440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69779-0CDF-46F4-7F75-E871976A88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2BE95B-6C63-E608-477B-19C344C6F8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0C6E6-9481-AB51-5D81-76873A409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72CDF4-5DFD-3358-2EF6-20DC0F8EC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F80400-9416-F0CD-EF01-22EC7C0D8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93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E0169-2026-CA61-21BA-137FE7AEE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304EFB-41F1-1549-74D3-99295EDEEC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CAC740-B6B3-97F2-1E20-01E10AE8E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7B667D-C775-3678-F607-0841F01A8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87F52D-27DC-DD66-21FA-72E53409C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4970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99C83-ABBD-9DCB-1AA9-7761C7F703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82E6D6-9666-A30D-C4D0-EBAA2A191D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9D6A75-CE33-66B7-3320-BD9905C31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FC4373-40E6-7B5B-D6A9-0F0075FEC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69FD9F-BA99-6CFC-298B-C68DE1032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3088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41ED5-C70E-2EA4-6AA7-8C547373A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9094D1-3C81-69E1-D609-533429E2C8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56E7DF-001A-5844-614E-9FD1DDCF7A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5EE140-17E5-0783-C0F1-7AE928DDA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3CCB72-1558-0E8E-A05B-79E119F9C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AB7E0F-B3D7-5174-C28B-85A790575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735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04F01-36B3-CE21-7936-ADE76F2C2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74B120-4BC5-76CA-C6AE-41D1E54A0E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54A69B-6311-C0A4-B506-0553A44E51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12FD93-572E-2EA9-F68F-B8136A2212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8F3BE94-8C8F-0893-E5BD-2C94C6716D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3A5B6D-5AFC-16A6-D6BD-0BC1E13434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F5739D8-978D-E290-D57B-23885DCAD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E56056-6CEB-85F8-D63F-13B9963F5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2699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7CB47-7414-D7D5-8AFC-AFA5DF23F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756D91-DC56-AC45-7C65-CDC1EBF7C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ACBC9D-46F3-8C3C-BB2A-0345F9F55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3A37A0-5901-B41D-FC71-E19422A28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50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5762F2-F423-BC7C-02A1-795D6C8BB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EC70FC-DD3B-E9AF-5DF2-70F454022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7634C-B5DC-ADC6-AE6E-77F745EBC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870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03B97-B7F0-8C6B-FA60-8052E58EB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9962F-D138-3684-E3B3-07A858825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EF7FDA-7353-088F-1AE9-77F592462F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1B024C-19BE-525A-2B83-633E9FBF2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9EF1CD-665A-82BE-E6DA-D536A8ACE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D953FD-12D7-A43F-3EA3-5D684F65C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710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C1BCD-FB21-D90E-9DA7-8F57F24A9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A2D302E-98C0-FAE4-DB12-23E918CF62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BF7B87-50C6-C89F-01FE-D7978FD959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CAEAAA-EB08-4B37-1DAF-719D09A47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075A5E-DB6A-AD25-B977-D694F5128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477A76-AB7B-AA4B-BD2A-8AF0FC02A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696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96C9B-3ED0-FD4E-9213-7E04DA596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C70FB3-C6B2-9BAB-B8C9-928E146074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85B0E-1FCB-6652-D692-4B652EDE0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EA0123-B5B3-445C-AF3E-A62C89C79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9B0768-E27E-D18E-B663-3E0F74CC0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6528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728674-3F46-A6B2-8414-1F18DCB64C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9A6376-A79B-1E91-1C27-F41257CC42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F04889-5F4A-D222-B9D4-CB663F375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6844E2-3BAE-808E-533A-2EB8FD61E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27779E-B010-A5DB-17E6-2E882D4D6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79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0B992F-C38A-0389-6D54-55841457A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D8DA79-DF99-DFB2-0817-A0C7FEEBD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50BCA9-949D-9160-9278-9A9F00B0FA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A8F8AD-C0B6-E348-9BBC-0EFFBCEF2F99}" type="datetimeFigureOut">
              <a:rPr lang="en-US" smtClean="0"/>
              <a:t>7/18/25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7168E8-46B1-F312-FF33-0614FE0903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B28116-B8FD-1787-065E-EEDE8291B7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DE6D92-8B8F-994A-BABD-98AB215280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76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BBC24-8CA5-3F29-9630-E5D04928C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study: Synthetic heatwave/wildfire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6F2F20-3D48-8155-6E59-D4E9E09951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Load increased by 50%</a:t>
            </a:r>
          </a:p>
          <a:p>
            <a:r>
              <a:rPr lang="en-US" dirty="0"/>
              <a:t>PV reduced by 75%</a:t>
            </a:r>
          </a:p>
          <a:p>
            <a:r>
              <a:rPr lang="en-US" dirty="0"/>
              <a:t>More extreme than actual Aug2020 event</a:t>
            </a:r>
          </a:p>
          <a:p>
            <a:r>
              <a:rPr lang="en-US" dirty="0"/>
              <a:t>Total shortfall 8/15/2019 – 8/20/2019</a:t>
            </a:r>
          </a:p>
          <a:p>
            <a:pPr lvl="1"/>
            <a:r>
              <a:rPr lang="en-US" dirty="0"/>
              <a:t>Before adding event: 3.13 GWh</a:t>
            </a:r>
          </a:p>
          <a:p>
            <a:pPr lvl="1"/>
            <a:r>
              <a:rPr lang="en-US" dirty="0"/>
              <a:t>After adding event: 32.52 GWh</a:t>
            </a:r>
          </a:p>
          <a:p>
            <a:pPr lvl="1"/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298992A0-1D71-A1B2-259B-BCFE7FE7AC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/>
        </p:blipFill>
        <p:spPr bwMode="auto">
          <a:xfrm>
            <a:off x="7509435" y="1341891"/>
            <a:ext cx="3410464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E448E703-3643-A593-F930-3EE929A670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/>
        </p:blipFill>
        <p:spPr bwMode="auto">
          <a:xfrm>
            <a:off x="7509435" y="4001294"/>
            <a:ext cx="3410464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0F35DEE-432F-5D2B-A03A-A2B0FCE2A3A2}"/>
              </a:ext>
            </a:extLst>
          </p:cNvPr>
          <p:cNvSpPr txBox="1"/>
          <p:nvPr/>
        </p:nvSpPr>
        <p:spPr>
          <a:xfrm>
            <a:off x="11039303" y="2189747"/>
            <a:ext cx="11526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Original data (daily integrals)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3A6FDA-85AF-4AF9-CF52-648E7B64CEB1}"/>
              </a:ext>
            </a:extLst>
          </p:cNvPr>
          <p:cNvSpPr txBox="1"/>
          <p:nvPr/>
        </p:nvSpPr>
        <p:spPr>
          <a:xfrm>
            <a:off x="11039303" y="4459705"/>
            <a:ext cx="11526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Modified data (daily integrals)</a:t>
            </a:r>
          </a:p>
        </p:txBody>
      </p:sp>
    </p:spTree>
    <p:extLst>
      <p:ext uri="{BB962C8B-B14F-4D97-AF65-F5344CB8AC3E}">
        <p14:creationId xmlns:p14="http://schemas.microsoft.com/office/powerpoint/2010/main" val="41935482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A3B85-BA4F-D6A0-2843-1AE6B95E7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Capacity needed to cover event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A1B3C1-E07E-613B-3395-9A3D39EA5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24400" cy="4351338"/>
          </a:xfrm>
        </p:spPr>
        <p:txBody>
          <a:bodyPr/>
          <a:lstStyle/>
          <a:p>
            <a:r>
              <a:rPr lang="en-US" dirty="0"/>
              <a:t>10.4x more initial shortfall</a:t>
            </a:r>
          </a:p>
          <a:p>
            <a:r>
              <a:rPr lang="en-US" dirty="0"/>
              <a:t>6x larger battery capacity required to eliminate load curtailment</a:t>
            </a: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4AC47795-BE11-B8F5-EE62-8763F8700EB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53981311"/>
              </p:ext>
            </p:extLst>
          </p:nvPr>
        </p:nvGraphicFramePr>
        <p:xfrm>
          <a:off x="6096001" y="1383631"/>
          <a:ext cx="5658852" cy="464419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6496179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8EFE1-C7F6-0A85-C420-54E994EE6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trace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D3F3C2-5FC2-45C3-6503-6A24BC7421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797595" cy="4351338"/>
          </a:xfrm>
        </p:spPr>
        <p:txBody>
          <a:bodyPr/>
          <a:lstStyle/>
          <a:p>
            <a:r>
              <a:rPr lang="en-US" dirty="0"/>
              <a:t>Q=18GWh</a:t>
            </a:r>
          </a:p>
          <a:p>
            <a:r>
              <a:rPr lang="en-US" dirty="0"/>
              <a:t>Undersupply runs just over two days</a:t>
            </a:r>
          </a:p>
          <a:p>
            <a:r>
              <a:rPr lang="en-US" dirty="0"/>
              <a:t>Batter capacity changes the </a:t>
            </a:r>
            <a:r>
              <a:rPr lang="en-US" i="1" dirty="0"/>
              <a:t>magnitude </a:t>
            </a:r>
            <a:r>
              <a:rPr lang="en-US" dirty="0"/>
              <a:t>of the under supply, but </a:t>
            </a:r>
            <a:r>
              <a:rPr lang="en-US" i="1" dirty="0"/>
              <a:t>not</a:t>
            </a:r>
            <a:r>
              <a:rPr lang="en-US" dirty="0"/>
              <a:t> the timing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2336DB6-CE55-7F03-7CD6-F65F86D2AC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/>
        </p:blipFill>
        <p:spPr bwMode="auto">
          <a:xfrm>
            <a:off x="4635795" y="676646"/>
            <a:ext cx="7279144" cy="4346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8E987F4-6E4E-4B84-0987-B2602ADE8038}"/>
              </a:ext>
            </a:extLst>
          </p:cNvPr>
          <p:cNvSpPr txBox="1"/>
          <p:nvPr/>
        </p:nvSpPr>
        <p:spPr>
          <a:xfrm>
            <a:off x="5838972" y="5266185"/>
            <a:ext cx="16242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Renewable shifting / fossil minimization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AFD948-3702-0419-C15C-9F4E659141BB}"/>
              </a:ext>
            </a:extLst>
          </p:cNvPr>
          <p:cNvSpPr txBox="1"/>
          <p:nvPr/>
        </p:nvSpPr>
        <p:spPr>
          <a:xfrm>
            <a:off x="8561567" y="5645619"/>
            <a:ext cx="14295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undersupply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1F186D-857E-F6D7-70C4-3C14E5D8A747}"/>
              </a:ext>
            </a:extLst>
          </p:cNvPr>
          <p:cNvSpPr txBox="1"/>
          <p:nvPr/>
        </p:nvSpPr>
        <p:spPr>
          <a:xfrm>
            <a:off x="7800693" y="5228705"/>
            <a:ext cx="1337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preparation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3B27B1-18B1-A731-209B-1137049AB780}"/>
              </a:ext>
            </a:extLst>
          </p:cNvPr>
          <p:cNvSpPr txBox="1"/>
          <p:nvPr/>
        </p:nvSpPr>
        <p:spPr>
          <a:xfrm>
            <a:off x="9663392" y="5253188"/>
            <a:ext cx="1042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stressed</a:t>
            </a: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41C59549-DE33-362D-3343-47ED349FB99F}"/>
              </a:ext>
            </a:extLst>
          </p:cNvPr>
          <p:cNvSpPr/>
          <p:nvPr/>
        </p:nvSpPr>
        <p:spPr>
          <a:xfrm rot="16200000">
            <a:off x="6537032" y="3850338"/>
            <a:ext cx="237774" cy="2521726"/>
          </a:xfrm>
          <a:prstGeom prst="leftBrace">
            <a:avLst/>
          </a:prstGeom>
          <a:solidFill>
            <a:srgbClr val="92D05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41D0AE65-D86C-DA66-7230-D645DF6AE967}"/>
              </a:ext>
            </a:extLst>
          </p:cNvPr>
          <p:cNvSpPr/>
          <p:nvPr/>
        </p:nvSpPr>
        <p:spPr>
          <a:xfrm rot="16200000">
            <a:off x="8330848" y="4583992"/>
            <a:ext cx="230646" cy="1058777"/>
          </a:xfrm>
          <a:prstGeom prst="leftBrace">
            <a:avLst/>
          </a:prstGeom>
          <a:solidFill>
            <a:srgbClr val="0070C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BD01B169-00A3-EA37-FB05-AF3F509FFFD7}"/>
              </a:ext>
            </a:extLst>
          </p:cNvPr>
          <p:cNvSpPr/>
          <p:nvPr/>
        </p:nvSpPr>
        <p:spPr>
          <a:xfrm rot="16200000">
            <a:off x="10062648" y="4500407"/>
            <a:ext cx="236389" cy="1222973"/>
          </a:xfrm>
          <a:prstGeom prst="leftBrace">
            <a:avLst/>
          </a:prstGeom>
          <a:solidFill>
            <a:srgbClr val="FFFF0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19C39CC5-823F-7651-D2BA-790E4A41BEE9}"/>
              </a:ext>
            </a:extLst>
          </p:cNvPr>
          <p:cNvSpPr/>
          <p:nvPr/>
        </p:nvSpPr>
        <p:spPr>
          <a:xfrm rot="16200000">
            <a:off x="9158335" y="4842163"/>
            <a:ext cx="260874" cy="561175"/>
          </a:xfrm>
          <a:prstGeom prst="leftBrace">
            <a:avLst/>
          </a:prstGeom>
          <a:solidFill>
            <a:srgbClr val="FFC00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EB1A3A1-0B5A-799F-AB92-1AB88BDEE939}"/>
              </a:ext>
            </a:extLst>
          </p:cNvPr>
          <p:cNvCxnSpPr>
            <a:cxnSpLocks/>
          </p:cNvCxnSpPr>
          <p:nvPr/>
        </p:nvCxnSpPr>
        <p:spPr>
          <a:xfrm>
            <a:off x="9288379" y="5266185"/>
            <a:ext cx="0" cy="370579"/>
          </a:xfrm>
          <a:prstGeom prst="line">
            <a:avLst/>
          </a:prstGeom>
          <a:ln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eft Brace 14">
            <a:extLst>
              <a:ext uri="{FF2B5EF4-FFF2-40B4-BE49-F238E27FC236}">
                <a16:creationId xmlns:a16="http://schemas.microsoft.com/office/drawing/2014/main" id="{3F1B7607-5CCA-15ED-7CE4-7FE28BA79C0C}"/>
              </a:ext>
            </a:extLst>
          </p:cNvPr>
          <p:cNvSpPr/>
          <p:nvPr/>
        </p:nvSpPr>
        <p:spPr>
          <a:xfrm rot="16200000">
            <a:off x="11111049" y="4673592"/>
            <a:ext cx="230646" cy="868085"/>
          </a:xfrm>
          <a:prstGeom prst="leftBrace">
            <a:avLst/>
          </a:prstGeom>
          <a:solidFill>
            <a:srgbClr val="92D05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F217B7-3667-DAB1-8932-7730F9DD6D11}"/>
              </a:ext>
            </a:extLst>
          </p:cNvPr>
          <p:cNvSpPr txBox="1"/>
          <p:nvPr/>
        </p:nvSpPr>
        <p:spPr>
          <a:xfrm>
            <a:off x="10628133" y="5253188"/>
            <a:ext cx="16242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Renewable shifting / fossil minimization</a:t>
            </a:r>
          </a:p>
        </p:txBody>
      </p:sp>
    </p:spTree>
    <p:extLst>
      <p:ext uri="{BB962C8B-B14F-4D97-AF65-F5344CB8AC3E}">
        <p14:creationId xmlns:p14="http://schemas.microsoft.com/office/powerpoint/2010/main" val="10976209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44869-CB19-EA37-89CC-73158929C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19F97-AFA6-A60C-2AD7-29F6F6DCC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trace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10F65-B104-4DFA-0404-4FCD731CB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797595" cy="4351338"/>
          </a:xfrm>
        </p:spPr>
        <p:txBody>
          <a:bodyPr/>
          <a:lstStyle/>
          <a:p>
            <a:r>
              <a:rPr lang="en-US" dirty="0"/>
              <a:t>Q=23GWh</a:t>
            </a:r>
          </a:p>
          <a:p>
            <a:r>
              <a:rPr lang="en-US" dirty="0"/>
              <a:t>Undersupply runs just over two days</a:t>
            </a:r>
          </a:p>
          <a:p>
            <a:r>
              <a:rPr lang="en-US" dirty="0"/>
              <a:t>Batter capacity changes the </a:t>
            </a:r>
            <a:r>
              <a:rPr lang="en-US" i="1" dirty="0"/>
              <a:t>magnitude </a:t>
            </a:r>
            <a:r>
              <a:rPr lang="en-US" dirty="0"/>
              <a:t>of the under supply, but </a:t>
            </a:r>
            <a:r>
              <a:rPr lang="en-US" i="1" dirty="0"/>
              <a:t>not</a:t>
            </a:r>
            <a:r>
              <a:rPr lang="en-US" dirty="0"/>
              <a:t> the timing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628AFE4-C45A-06B5-2F01-93533D2D13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/>
        </p:blipFill>
        <p:spPr bwMode="auto">
          <a:xfrm>
            <a:off x="4643148" y="681037"/>
            <a:ext cx="7264437" cy="4338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B064F28-3D41-8E21-3D78-37A23E10F527}"/>
              </a:ext>
            </a:extLst>
          </p:cNvPr>
          <p:cNvSpPr txBox="1"/>
          <p:nvPr/>
        </p:nvSpPr>
        <p:spPr>
          <a:xfrm>
            <a:off x="5838972" y="5266185"/>
            <a:ext cx="16242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Renewable shifting / fossil minimization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6FAA84-FA39-7FE6-D73B-AF3534B089F4}"/>
              </a:ext>
            </a:extLst>
          </p:cNvPr>
          <p:cNvSpPr txBox="1"/>
          <p:nvPr/>
        </p:nvSpPr>
        <p:spPr>
          <a:xfrm>
            <a:off x="8561567" y="5645619"/>
            <a:ext cx="14295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undersupply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A5DE98-5D8D-D78B-A908-719C83681965}"/>
              </a:ext>
            </a:extLst>
          </p:cNvPr>
          <p:cNvSpPr txBox="1"/>
          <p:nvPr/>
        </p:nvSpPr>
        <p:spPr>
          <a:xfrm>
            <a:off x="7800693" y="5228705"/>
            <a:ext cx="1337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preparation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EA15E2-4E09-DD8E-72E4-20B9083877C0}"/>
              </a:ext>
            </a:extLst>
          </p:cNvPr>
          <p:cNvSpPr txBox="1"/>
          <p:nvPr/>
        </p:nvSpPr>
        <p:spPr>
          <a:xfrm>
            <a:off x="9663392" y="5253188"/>
            <a:ext cx="1042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stressed</a:t>
            </a: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48D763CB-208B-1917-C987-D9AFD9E4D571}"/>
              </a:ext>
            </a:extLst>
          </p:cNvPr>
          <p:cNvSpPr/>
          <p:nvPr/>
        </p:nvSpPr>
        <p:spPr>
          <a:xfrm rot="16200000">
            <a:off x="6537032" y="3850338"/>
            <a:ext cx="237774" cy="2521726"/>
          </a:xfrm>
          <a:prstGeom prst="leftBrace">
            <a:avLst/>
          </a:prstGeom>
          <a:solidFill>
            <a:srgbClr val="92D05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84737526-FEC1-5A86-6334-812B5394750B}"/>
              </a:ext>
            </a:extLst>
          </p:cNvPr>
          <p:cNvSpPr/>
          <p:nvPr/>
        </p:nvSpPr>
        <p:spPr>
          <a:xfrm rot="16200000">
            <a:off x="8330848" y="4583992"/>
            <a:ext cx="230646" cy="1058777"/>
          </a:xfrm>
          <a:prstGeom prst="leftBrace">
            <a:avLst/>
          </a:prstGeom>
          <a:solidFill>
            <a:srgbClr val="0070C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752666D-71D0-A089-CF5E-EF1DCE95F6D4}"/>
              </a:ext>
            </a:extLst>
          </p:cNvPr>
          <p:cNvSpPr/>
          <p:nvPr/>
        </p:nvSpPr>
        <p:spPr>
          <a:xfrm rot="16200000">
            <a:off x="10062648" y="4500407"/>
            <a:ext cx="236389" cy="1222973"/>
          </a:xfrm>
          <a:prstGeom prst="leftBrace">
            <a:avLst/>
          </a:prstGeom>
          <a:solidFill>
            <a:srgbClr val="FFFF0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8EC21C50-1C31-A2F3-6C10-1A8FC9382472}"/>
              </a:ext>
            </a:extLst>
          </p:cNvPr>
          <p:cNvSpPr/>
          <p:nvPr/>
        </p:nvSpPr>
        <p:spPr>
          <a:xfrm rot="16200000">
            <a:off x="9158335" y="4842163"/>
            <a:ext cx="260874" cy="561175"/>
          </a:xfrm>
          <a:prstGeom prst="leftBrace">
            <a:avLst/>
          </a:prstGeom>
          <a:solidFill>
            <a:srgbClr val="FFC00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4F3A3B4-5D86-57B4-7080-0A93338017B9}"/>
              </a:ext>
            </a:extLst>
          </p:cNvPr>
          <p:cNvCxnSpPr>
            <a:cxnSpLocks/>
          </p:cNvCxnSpPr>
          <p:nvPr/>
        </p:nvCxnSpPr>
        <p:spPr>
          <a:xfrm>
            <a:off x="9288379" y="5266185"/>
            <a:ext cx="0" cy="370579"/>
          </a:xfrm>
          <a:prstGeom prst="line">
            <a:avLst/>
          </a:prstGeom>
          <a:ln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Left Brace 11">
            <a:extLst>
              <a:ext uri="{FF2B5EF4-FFF2-40B4-BE49-F238E27FC236}">
                <a16:creationId xmlns:a16="http://schemas.microsoft.com/office/drawing/2014/main" id="{1A6F37D4-F590-C5B5-B628-49D5A0E71E07}"/>
              </a:ext>
            </a:extLst>
          </p:cNvPr>
          <p:cNvSpPr/>
          <p:nvPr/>
        </p:nvSpPr>
        <p:spPr>
          <a:xfrm rot="16200000">
            <a:off x="11111049" y="4673592"/>
            <a:ext cx="230646" cy="868085"/>
          </a:xfrm>
          <a:prstGeom prst="leftBrace">
            <a:avLst/>
          </a:prstGeom>
          <a:solidFill>
            <a:srgbClr val="92D05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EB3B6B-ED76-2046-A046-4E465A77832B}"/>
              </a:ext>
            </a:extLst>
          </p:cNvPr>
          <p:cNvSpPr txBox="1"/>
          <p:nvPr/>
        </p:nvSpPr>
        <p:spPr>
          <a:xfrm>
            <a:off x="10628133" y="5253188"/>
            <a:ext cx="16242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Renewable shifting / fossil minimization</a:t>
            </a:r>
          </a:p>
        </p:txBody>
      </p:sp>
    </p:spTree>
    <p:extLst>
      <p:ext uri="{BB962C8B-B14F-4D97-AF65-F5344CB8AC3E}">
        <p14:creationId xmlns:p14="http://schemas.microsoft.com/office/powerpoint/2010/main" val="30157222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C96FF-B439-BBAA-1F4A-4C6619AA9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81748-66FB-BCF6-A1E0-9C807842E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trace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92BAB-378E-C258-CA66-671606C70A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797595" cy="4351338"/>
          </a:xfrm>
        </p:spPr>
        <p:txBody>
          <a:bodyPr/>
          <a:lstStyle/>
          <a:p>
            <a:r>
              <a:rPr lang="en-US" dirty="0"/>
              <a:t>Q=24GWh</a:t>
            </a:r>
          </a:p>
          <a:p>
            <a:r>
              <a:rPr lang="en-US" dirty="0"/>
              <a:t>Undersupply runs just over two days</a:t>
            </a:r>
          </a:p>
          <a:p>
            <a:r>
              <a:rPr lang="en-US" dirty="0"/>
              <a:t>Batter capacity changes the </a:t>
            </a:r>
            <a:r>
              <a:rPr lang="en-US" i="1" dirty="0"/>
              <a:t>magnitude </a:t>
            </a:r>
            <a:r>
              <a:rPr lang="en-US" dirty="0"/>
              <a:t>of the under supply, but </a:t>
            </a:r>
            <a:r>
              <a:rPr lang="en-US" i="1" dirty="0"/>
              <a:t>not</a:t>
            </a:r>
            <a:r>
              <a:rPr lang="en-US" dirty="0"/>
              <a:t> the timing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06E0DE9-F230-60AF-9ED2-63B567B89F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/>
        </p:blipFill>
        <p:spPr bwMode="auto">
          <a:xfrm>
            <a:off x="4643148" y="681037"/>
            <a:ext cx="7264437" cy="4338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2CEF9A5-4AC2-EB49-3E5C-034A77BB4DEB}"/>
              </a:ext>
            </a:extLst>
          </p:cNvPr>
          <p:cNvSpPr txBox="1"/>
          <p:nvPr/>
        </p:nvSpPr>
        <p:spPr>
          <a:xfrm>
            <a:off x="5838972" y="5266185"/>
            <a:ext cx="16242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Renewable shifting / fossil minimization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29223F-8044-C003-5063-0462E6FB6DBA}"/>
              </a:ext>
            </a:extLst>
          </p:cNvPr>
          <p:cNvSpPr txBox="1"/>
          <p:nvPr/>
        </p:nvSpPr>
        <p:spPr>
          <a:xfrm>
            <a:off x="7800693" y="5228705"/>
            <a:ext cx="1337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preparation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E84D51-8FD1-E9AE-F0A7-CD17A14FD59E}"/>
              </a:ext>
            </a:extLst>
          </p:cNvPr>
          <p:cNvSpPr txBox="1"/>
          <p:nvPr/>
        </p:nvSpPr>
        <p:spPr>
          <a:xfrm>
            <a:off x="9362114" y="5269254"/>
            <a:ext cx="1042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stressed</a:t>
            </a: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8AA320D1-D771-5561-EB9E-43095441A040}"/>
              </a:ext>
            </a:extLst>
          </p:cNvPr>
          <p:cNvSpPr/>
          <p:nvPr/>
        </p:nvSpPr>
        <p:spPr>
          <a:xfrm rot="16200000">
            <a:off x="6537032" y="3850338"/>
            <a:ext cx="237774" cy="2521726"/>
          </a:xfrm>
          <a:prstGeom prst="leftBrace">
            <a:avLst/>
          </a:prstGeom>
          <a:solidFill>
            <a:srgbClr val="92D05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783FD4E0-6AA9-0FEB-0840-8EA762B6E878}"/>
              </a:ext>
            </a:extLst>
          </p:cNvPr>
          <p:cNvSpPr/>
          <p:nvPr/>
        </p:nvSpPr>
        <p:spPr>
          <a:xfrm rot="16200000">
            <a:off x="8330848" y="4583992"/>
            <a:ext cx="230646" cy="1058777"/>
          </a:xfrm>
          <a:prstGeom prst="leftBrace">
            <a:avLst/>
          </a:prstGeom>
          <a:solidFill>
            <a:srgbClr val="0070C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42A3C144-BC75-1479-55DB-38404A8FAAD3}"/>
              </a:ext>
            </a:extLst>
          </p:cNvPr>
          <p:cNvSpPr/>
          <p:nvPr/>
        </p:nvSpPr>
        <p:spPr>
          <a:xfrm rot="16200000">
            <a:off x="9772992" y="4203620"/>
            <a:ext cx="229259" cy="1809416"/>
          </a:xfrm>
          <a:prstGeom prst="leftBrace">
            <a:avLst/>
          </a:prstGeom>
          <a:solidFill>
            <a:srgbClr val="FFFF0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BDA56576-6FE6-AB25-7D10-5A75FEED0DFB}"/>
              </a:ext>
            </a:extLst>
          </p:cNvPr>
          <p:cNvSpPr/>
          <p:nvPr/>
        </p:nvSpPr>
        <p:spPr>
          <a:xfrm rot="16200000">
            <a:off x="11111049" y="4673592"/>
            <a:ext cx="230646" cy="868085"/>
          </a:xfrm>
          <a:prstGeom prst="leftBrace">
            <a:avLst/>
          </a:prstGeom>
          <a:solidFill>
            <a:srgbClr val="92D050"/>
          </a:solidFill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98E69EA-57DD-7FE3-1032-D83083A08355}"/>
              </a:ext>
            </a:extLst>
          </p:cNvPr>
          <p:cNvSpPr txBox="1"/>
          <p:nvPr/>
        </p:nvSpPr>
        <p:spPr>
          <a:xfrm>
            <a:off x="10628133" y="5253188"/>
            <a:ext cx="16242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Renewable shifting / fossil minimization</a:t>
            </a:r>
          </a:p>
        </p:txBody>
      </p:sp>
    </p:spTree>
    <p:extLst>
      <p:ext uri="{BB962C8B-B14F-4D97-AF65-F5344CB8AC3E}">
        <p14:creationId xmlns:p14="http://schemas.microsoft.com/office/powerpoint/2010/main" val="40563010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5965d95-ecc0-4720-b759-1f33c42ed7da}" enabled="1" method="Standard" siteId="{a0f29d7e-28cd-4f54-8442-7885aee7c08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860</TotalTime>
  <Words>199</Words>
  <Application>Microsoft Macintosh PowerPoint</Application>
  <PresentationFormat>Widescreen</PresentationFormat>
  <Paragraphs>41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Case study: Synthetic heatwave/wildfire</vt:lpstr>
      <vt:lpstr>Capacity needed to cover event</vt:lpstr>
      <vt:lpstr>Example trace</vt:lpstr>
      <vt:lpstr>Example trace</vt:lpstr>
      <vt:lpstr>Example trace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Meyers-Im, Bennet</dc:creator>
  <cp:lastModifiedBy>Meyers-Im, Bennet</cp:lastModifiedBy>
  <cp:revision>8</cp:revision>
  <dcterms:created xsi:type="dcterms:W3CDTF">2025-07-18T05:23:21Z</dcterms:created>
  <dcterms:modified xsi:type="dcterms:W3CDTF">2025-07-18T19:51:30Z</dcterms:modified>
</cp:coreProperties>
</file>