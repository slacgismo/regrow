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589"/>
  </p:normalViewPr>
  <p:slideViewPr>
    <p:cSldViewPr snapToGrid="0">
      <p:cViewPr varScale="1">
        <p:scale>
          <a:sx n="120" d="100"/>
          <a:sy n="120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Curtailed Load</a:t>
            </a:r>
            <a:r>
              <a:rPr lang="en-US" baseline="0"/>
              <a:t> vs. Battery Capacity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event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8</c:v>
                </c:pt>
                <c:pt idx="6">
                  <c:v>12</c:v>
                </c:pt>
                <c:pt idx="7">
                  <c:v>18</c:v>
                </c:pt>
                <c:pt idx="8">
                  <c:v>21</c:v>
                </c:pt>
                <c:pt idx="9">
                  <c:v>22</c:v>
                </c:pt>
                <c:pt idx="10">
                  <c:v>23</c:v>
                </c:pt>
                <c:pt idx="11">
                  <c:v>24</c:v>
                </c:pt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  <c:pt idx="0">
                  <c:v>40.25</c:v>
                </c:pt>
                <c:pt idx="1">
                  <c:v>31.45</c:v>
                </c:pt>
                <c:pt idx="2">
                  <c:v>25.15</c:v>
                </c:pt>
                <c:pt idx="3">
                  <c:v>21.37</c:v>
                </c:pt>
                <c:pt idx="4">
                  <c:v>19.89</c:v>
                </c:pt>
                <c:pt idx="5">
                  <c:v>15.89</c:v>
                </c:pt>
                <c:pt idx="6">
                  <c:v>11.89</c:v>
                </c:pt>
                <c:pt idx="7">
                  <c:v>5.89</c:v>
                </c:pt>
                <c:pt idx="8">
                  <c:v>2.89</c:v>
                </c:pt>
                <c:pt idx="9">
                  <c:v>1.89</c:v>
                </c:pt>
                <c:pt idx="10">
                  <c:v>0.89</c:v>
                </c:pt>
                <c:pt idx="1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50D-C94F-98E9-B0203B226E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event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8</c:v>
                </c:pt>
                <c:pt idx="6">
                  <c:v>12</c:v>
                </c:pt>
                <c:pt idx="7">
                  <c:v>18</c:v>
                </c:pt>
                <c:pt idx="8">
                  <c:v>21</c:v>
                </c:pt>
                <c:pt idx="9">
                  <c:v>22</c:v>
                </c:pt>
                <c:pt idx="10">
                  <c:v>23</c:v>
                </c:pt>
                <c:pt idx="11">
                  <c:v>24</c:v>
                </c:pt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  <c:pt idx="0">
                  <c:v>10.86</c:v>
                </c:pt>
                <c:pt idx="1">
                  <c:v>5.15</c:v>
                </c:pt>
                <c:pt idx="2">
                  <c:v>1.82</c:v>
                </c:pt>
                <c:pt idx="3">
                  <c:v>0.24</c:v>
                </c:pt>
                <c:pt idx="4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50D-C94F-98E9-B0203B226E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3707440"/>
        <c:axId val="313709808"/>
      </c:scatterChart>
      <c:valAx>
        <c:axId val="313707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batter</a:t>
                </a:r>
                <a:r>
                  <a:rPr lang="en-US" baseline="0"/>
                  <a:t> capacity [GWh]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709808"/>
        <c:crosses val="autoZero"/>
        <c:crossBetween val="midCat"/>
      </c:valAx>
      <c:valAx>
        <c:axId val="313709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curtailed load [GWh]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3707440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69779-0CDF-46F4-7F75-E871976A8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2BE95B-6C63-E608-477B-19C344C6F8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C6E6-9481-AB51-5D81-76873A40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2CDF4-5DFD-3358-2EF6-20DC0F8E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80400-9416-F0CD-EF01-22EC7C0D8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93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E0169-2026-CA61-21BA-137FE7AE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04EFB-41F1-1549-74D3-99295EDEE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AC740-B6B3-97F2-1E20-01E10AE8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B667D-C775-3678-F607-0841F01A8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7F52D-27DC-DD66-21FA-72E53409C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49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9C83-ABBD-9DCB-1AA9-7761C7F70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82E6D6-9666-A30D-C4D0-EBAA2A191D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D6A75-CE33-66B7-3320-BD9905C31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FC4373-40E6-7B5B-D6A9-0F0075FEC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9FD9F-BA99-6CFC-298B-C68DE1032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0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41ED5-C70E-2EA4-6AA7-8C547373A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094D1-3C81-69E1-D609-533429E2C8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6E7DF-001A-5844-614E-9FD1DDCF7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EE140-17E5-0783-C0F1-7AE928DDA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CCB72-1558-0E8E-A05B-79E119F9C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B7E0F-B3D7-5174-C28B-85A790575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04F01-36B3-CE21-7936-ADE76F2C2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4B120-4BC5-76CA-C6AE-41D1E54A0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A69B-6311-C0A4-B506-0553A44E5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12FD93-572E-2EA9-F68F-B8136A2212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3BE94-8C8F-0893-E5BD-2C94C6716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3A5B6D-5AFC-16A6-D6BD-0BC1E134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739D8-978D-E290-D57B-23885DCAD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E56056-6CEB-85F8-D63F-13B9963F5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69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CB47-7414-D7D5-8AFC-AFA5DF23F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56D91-DC56-AC45-7C65-CDC1EBF7C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ACBC9D-46F3-8C3C-BB2A-0345F9F5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A37A0-5901-B41D-FC71-E19422A2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5762F2-F423-BC7C-02A1-795D6C8BB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EC70FC-DD3B-E9AF-5DF2-70F454022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7634C-B5DC-ADC6-AE6E-77F745EB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70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03B97-B7F0-8C6B-FA60-8052E58EB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9962F-D138-3684-E3B3-07A858825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EF7FDA-7353-088F-1AE9-77F592462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1B024C-19BE-525A-2B83-633E9FBF2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EF1CD-665A-82BE-E6DA-D536A8AC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953FD-12D7-A43F-3EA3-5D684F65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10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C1BCD-FB21-D90E-9DA7-8F57F24A9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2D302E-98C0-FAE4-DB12-23E918CF62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F7B87-50C6-C89F-01FE-D7978FD959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AEAAA-EB08-4B37-1DAF-719D09A47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075A5E-DB6A-AD25-B977-D694F5128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477A76-AB7B-AA4B-BD2A-8AF0FC02A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69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96C9B-3ED0-FD4E-9213-7E04DA596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C70FB3-C6B2-9BAB-B8C9-928E146074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85B0E-1FCB-6652-D692-4B652EDE0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A0123-B5B3-445C-AF3E-A62C89C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B0768-E27E-D18E-B663-3E0F74CC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652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728674-3F46-A6B2-8414-1F18DCB64C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9A6376-A79B-1E91-1C27-F41257CC42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04889-5F4A-D222-B9D4-CB663F375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844E2-3BAE-808E-533A-2EB8FD61E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7779E-B010-A5DB-17E6-2E882D4D6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0B992F-C38A-0389-6D54-55841457A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8DA79-DF99-DFB2-0817-A0C7FEEBD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BCA9-949D-9160-9278-9A9F00B0F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8F8AD-C0B6-E348-9BBC-0EFFBCEF2F99}" type="datetimeFigureOut">
              <a:rPr lang="en-US" smtClean="0"/>
              <a:t>7/18/25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168E8-46B1-F312-FF33-0614FE0903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28116-B8FD-1787-065E-EEDE8291B7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DE6D92-8B8F-994A-BABD-98AB215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6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BBC24-8CA5-3F29-9630-E5D04928C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study: Synthetic heatwave/wildfire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F2F20-3D48-8155-6E59-D4E9E0995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Load increased by 50%</a:t>
            </a:r>
          </a:p>
          <a:p>
            <a:r>
              <a:rPr lang="en-US" dirty="0"/>
              <a:t>PV reduced by 75%</a:t>
            </a:r>
          </a:p>
          <a:p>
            <a:r>
              <a:rPr lang="en-US" dirty="0"/>
              <a:t>More extreme than actual Aug2020 event</a:t>
            </a:r>
          </a:p>
          <a:p>
            <a:r>
              <a:rPr lang="en-US" dirty="0"/>
              <a:t>Total shortfall 8/15/2019 – 8/20/2019</a:t>
            </a:r>
          </a:p>
          <a:p>
            <a:pPr lvl="1"/>
            <a:r>
              <a:rPr lang="en-US" dirty="0"/>
              <a:t>Before adding event: 3.13 GWh</a:t>
            </a:r>
          </a:p>
          <a:p>
            <a:pPr lvl="1"/>
            <a:r>
              <a:rPr lang="en-US" dirty="0"/>
              <a:t>After adding event: 32.52 GWh</a:t>
            </a:r>
          </a:p>
          <a:p>
            <a:pPr lvl="1"/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298992A0-1D71-A1B2-259B-BCFE7FE7A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7509435" y="1341891"/>
            <a:ext cx="3410464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448E703-3643-A593-F930-3EE929A67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7509435" y="4001294"/>
            <a:ext cx="3410464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F35DEE-432F-5D2B-A03A-A2B0FCE2A3A2}"/>
              </a:ext>
            </a:extLst>
          </p:cNvPr>
          <p:cNvSpPr txBox="1"/>
          <p:nvPr/>
        </p:nvSpPr>
        <p:spPr>
          <a:xfrm>
            <a:off x="11039303" y="2189747"/>
            <a:ext cx="1152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Original data (daily integrals)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3A6FDA-85AF-4AF9-CF52-648E7B64CEB1}"/>
              </a:ext>
            </a:extLst>
          </p:cNvPr>
          <p:cNvSpPr txBox="1"/>
          <p:nvPr/>
        </p:nvSpPr>
        <p:spPr>
          <a:xfrm>
            <a:off x="11039303" y="4459705"/>
            <a:ext cx="11526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Modified data (daily integrals)</a:t>
            </a:r>
          </a:p>
        </p:txBody>
      </p:sp>
    </p:spTree>
    <p:extLst>
      <p:ext uri="{BB962C8B-B14F-4D97-AF65-F5344CB8AC3E}">
        <p14:creationId xmlns:p14="http://schemas.microsoft.com/office/powerpoint/2010/main" val="419354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A3B85-BA4F-D6A0-2843-1AE6B95E7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Capacity needed to cover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1B3C1-E07E-613B-3395-9A3D39EA5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24400" cy="4351338"/>
          </a:xfrm>
        </p:spPr>
        <p:txBody>
          <a:bodyPr/>
          <a:lstStyle/>
          <a:p>
            <a:r>
              <a:rPr lang="en-US" dirty="0"/>
              <a:t>10.4x more initial shortfall</a:t>
            </a:r>
          </a:p>
          <a:p>
            <a:r>
              <a:rPr lang="en-US" dirty="0"/>
              <a:t>6x larger battery capacity required to eliminate load curtailment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AC47795-BE11-B8F5-EE62-8763F8700EB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3981311"/>
              </p:ext>
            </p:extLst>
          </p:nvPr>
        </p:nvGraphicFramePr>
        <p:xfrm>
          <a:off x="6096001" y="1383631"/>
          <a:ext cx="5658852" cy="46441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49617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8EFE1-C7F6-0A85-C420-54E994EE6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F3C2-5FC2-45C3-6503-6A24BC742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595" cy="4351338"/>
          </a:xfrm>
        </p:spPr>
        <p:txBody>
          <a:bodyPr/>
          <a:lstStyle/>
          <a:p>
            <a:r>
              <a:rPr lang="en-US" dirty="0"/>
              <a:t>Q=18GWh</a:t>
            </a:r>
          </a:p>
          <a:p>
            <a:r>
              <a:rPr lang="en-US" dirty="0"/>
              <a:t>Undersupply runs just over two days</a:t>
            </a:r>
          </a:p>
          <a:p>
            <a:r>
              <a:rPr lang="en-US" dirty="0"/>
              <a:t>Batter capacity changes the </a:t>
            </a:r>
            <a:r>
              <a:rPr lang="en-US" i="1" dirty="0"/>
              <a:t>magnitude </a:t>
            </a:r>
            <a:r>
              <a:rPr lang="en-US" dirty="0"/>
              <a:t>of the under supply, but </a:t>
            </a:r>
            <a:r>
              <a:rPr lang="en-US" i="1" dirty="0"/>
              <a:t>not</a:t>
            </a:r>
            <a:r>
              <a:rPr lang="en-US" dirty="0"/>
              <a:t> the timing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2336DB6-CE55-7F03-7CD6-F65F86D2AC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635795" y="676646"/>
            <a:ext cx="7279144" cy="4346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E987F4-6E4E-4B84-0987-B2602ADE8038}"/>
              </a:ext>
            </a:extLst>
          </p:cNvPr>
          <p:cNvSpPr txBox="1"/>
          <p:nvPr/>
        </p:nvSpPr>
        <p:spPr>
          <a:xfrm>
            <a:off x="5838972" y="5266185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FD948-3702-0419-C15C-9F4E659141BB}"/>
              </a:ext>
            </a:extLst>
          </p:cNvPr>
          <p:cNvSpPr txBox="1"/>
          <p:nvPr/>
        </p:nvSpPr>
        <p:spPr>
          <a:xfrm>
            <a:off x="8561567" y="5645619"/>
            <a:ext cx="142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undersupply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F186D-857E-F6D7-70C4-3C14E5D8A747}"/>
              </a:ext>
            </a:extLst>
          </p:cNvPr>
          <p:cNvSpPr txBox="1"/>
          <p:nvPr/>
        </p:nvSpPr>
        <p:spPr>
          <a:xfrm>
            <a:off x="7800693" y="5228705"/>
            <a:ext cx="133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3B27B1-18B1-A731-209B-1137049AB780}"/>
              </a:ext>
            </a:extLst>
          </p:cNvPr>
          <p:cNvSpPr txBox="1"/>
          <p:nvPr/>
        </p:nvSpPr>
        <p:spPr>
          <a:xfrm>
            <a:off x="9663392" y="5253188"/>
            <a:ext cx="104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stressed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1C59549-DE33-362D-3343-47ED349FB99F}"/>
              </a:ext>
            </a:extLst>
          </p:cNvPr>
          <p:cNvSpPr/>
          <p:nvPr/>
        </p:nvSpPr>
        <p:spPr>
          <a:xfrm rot="16200000">
            <a:off x="6537032" y="3850338"/>
            <a:ext cx="237774" cy="2521726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41D0AE65-D86C-DA66-7230-D645DF6AE967}"/>
              </a:ext>
            </a:extLst>
          </p:cNvPr>
          <p:cNvSpPr/>
          <p:nvPr/>
        </p:nvSpPr>
        <p:spPr>
          <a:xfrm rot="16200000">
            <a:off x="8330848" y="4583992"/>
            <a:ext cx="230646" cy="1058777"/>
          </a:xfrm>
          <a:prstGeom prst="leftBrace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D01B169-00A3-EA37-FB05-AF3F509FFFD7}"/>
              </a:ext>
            </a:extLst>
          </p:cNvPr>
          <p:cNvSpPr/>
          <p:nvPr/>
        </p:nvSpPr>
        <p:spPr>
          <a:xfrm rot="16200000">
            <a:off x="9938951" y="4624103"/>
            <a:ext cx="229259" cy="968449"/>
          </a:xfrm>
          <a:prstGeom prst="leftBrace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19C39CC5-823F-7651-D2BA-790E4A41BEE9}"/>
              </a:ext>
            </a:extLst>
          </p:cNvPr>
          <p:cNvSpPr/>
          <p:nvPr/>
        </p:nvSpPr>
        <p:spPr>
          <a:xfrm rot="16200000">
            <a:off x="9158335" y="4842163"/>
            <a:ext cx="260874" cy="561175"/>
          </a:xfrm>
          <a:prstGeom prst="leftBrace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B1A3A1-0B5A-799F-AB92-1AB88BDEE939}"/>
              </a:ext>
            </a:extLst>
          </p:cNvPr>
          <p:cNvCxnSpPr>
            <a:cxnSpLocks/>
          </p:cNvCxnSpPr>
          <p:nvPr/>
        </p:nvCxnSpPr>
        <p:spPr>
          <a:xfrm>
            <a:off x="9288379" y="5266185"/>
            <a:ext cx="0" cy="370579"/>
          </a:xfrm>
          <a:prstGeom prst="line">
            <a:avLst/>
          </a:prstGeom>
          <a:ln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eft Brace 14">
            <a:extLst>
              <a:ext uri="{FF2B5EF4-FFF2-40B4-BE49-F238E27FC236}">
                <a16:creationId xmlns:a16="http://schemas.microsoft.com/office/drawing/2014/main" id="{3F1B7607-5CCA-15ED-7CE4-7FE28BA79C0C}"/>
              </a:ext>
            </a:extLst>
          </p:cNvPr>
          <p:cNvSpPr/>
          <p:nvPr/>
        </p:nvSpPr>
        <p:spPr>
          <a:xfrm rot="16200000">
            <a:off x="10984482" y="4545638"/>
            <a:ext cx="229260" cy="1122608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F217B7-3667-DAB1-8932-7730F9DD6D11}"/>
              </a:ext>
            </a:extLst>
          </p:cNvPr>
          <p:cNvSpPr txBox="1"/>
          <p:nvPr/>
        </p:nvSpPr>
        <p:spPr>
          <a:xfrm>
            <a:off x="10628133" y="5253188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</p:spTree>
    <p:extLst>
      <p:ext uri="{BB962C8B-B14F-4D97-AF65-F5344CB8AC3E}">
        <p14:creationId xmlns:p14="http://schemas.microsoft.com/office/powerpoint/2010/main" val="1097620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44869-CB19-EA37-89CC-73158929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19F97-AFA6-A60C-2AD7-29F6F6DCC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910F65-B104-4DFA-0404-4FCD731CB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595" cy="4351338"/>
          </a:xfrm>
        </p:spPr>
        <p:txBody>
          <a:bodyPr/>
          <a:lstStyle/>
          <a:p>
            <a:r>
              <a:rPr lang="en-US" dirty="0"/>
              <a:t>Q=23GWh</a:t>
            </a:r>
          </a:p>
          <a:p>
            <a:r>
              <a:rPr lang="en-US" dirty="0"/>
              <a:t>Undersupply runs just over two days</a:t>
            </a:r>
          </a:p>
          <a:p>
            <a:r>
              <a:rPr lang="en-US" dirty="0"/>
              <a:t>Batter capacity changes the </a:t>
            </a:r>
            <a:r>
              <a:rPr lang="en-US" i="1" dirty="0"/>
              <a:t>magnitude </a:t>
            </a:r>
            <a:r>
              <a:rPr lang="en-US" dirty="0"/>
              <a:t>of the under supply, but </a:t>
            </a:r>
            <a:r>
              <a:rPr lang="en-US" i="1" dirty="0"/>
              <a:t>not</a:t>
            </a:r>
            <a:r>
              <a:rPr lang="en-US" dirty="0"/>
              <a:t> the timing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28AFE4-C45A-06B5-2F01-93533D2D13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643148" y="681037"/>
            <a:ext cx="7264437" cy="433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064F28-3D41-8E21-3D78-37A23E10F527}"/>
              </a:ext>
            </a:extLst>
          </p:cNvPr>
          <p:cNvSpPr txBox="1"/>
          <p:nvPr/>
        </p:nvSpPr>
        <p:spPr>
          <a:xfrm>
            <a:off x="5838972" y="5266185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6FAA84-FA39-7FE6-D73B-AF3534B089F4}"/>
              </a:ext>
            </a:extLst>
          </p:cNvPr>
          <p:cNvSpPr txBox="1"/>
          <p:nvPr/>
        </p:nvSpPr>
        <p:spPr>
          <a:xfrm>
            <a:off x="8561567" y="5645619"/>
            <a:ext cx="1429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undersupply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A5DE98-5D8D-D78B-A908-719C83681965}"/>
              </a:ext>
            </a:extLst>
          </p:cNvPr>
          <p:cNvSpPr txBox="1"/>
          <p:nvPr/>
        </p:nvSpPr>
        <p:spPr>
          <a:xfrm>
            <a:off x="7800693" y="5228705"/>
            <a:ext cx="133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A15E2-4E09-DD8E-72E4-20B9083877C0}"/>
              </a:ext>
            </a:extLst>
          </p:cNvPr>
          <p:cNvSpPr txBox="1"/>
          <p:nvPr/>
        </p:nvSpPr>
        <p:spPr>
          <a:xfrm>
            <a:off x="9663392" y="5253188"/>
            <a:ext cx="104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stressed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48D763CB-208B-1917-C987-D9AFD9E4D571}"/>
              </a:ext>
            </a:extLst>
          </p:cNvPr>
          <p:cNvSpPr/>
          <p:nvPr/>
        </p:nvSpPr>
        <p:spPr>
          <a:xfrm rot="16200000">
            <a:off x="6537032" y="3850338"/>
            <a:ext cx="237774" cy="2521726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84737526-FEC1-5A86-6334-812B5394750B}"/>
              </a:ext>
            </a:extLst>
          </p:cNvPr>
          <p:cNvSpPr/>
          <p:nvPr/>
        </p:nvSpPr>
        <p:spPr>
          <a:xfrm rot="16200000">
            <a:off x="8330848" y="4583992"/>
            <a:ext cx="230646" cy="1058777"/>
          </a:xfrm>
          <a:prstGeom prst="leftBrace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8EC21C50-1C31-A2F3-6C10-1A8FC9382472}"/>
              </a:ext>
            </a:extLst>
          </p:cNvPr>
          <p:cNvSpPr/>
          <p:nvPr/>
        </p:nvSpPr>
        <p:spPr>
          <a:xfrm rot="16200000">
            <a:off x="9158335" y="4842163"/>
            <a:ext cx="260874" cy="561175"/>
          </a:xfrm>
          <a:prstGeom prst="leftBrace">
            <a:avLst/>
          </a:prstGeom>
          <a:solidFill>
            <a:srgbClr val="FFC0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4F3A3B4-5D86-57B4-7080-0A93338017B9}"/>
              </a:ext>
            </a:extLst>
          </p:cNvPr>
          <p:cNvCxnSpPr>
            <a:cxnSpLocks/>
          </p:cNvCxnSpPr>
          <p:nvPr/>
        </p:nvCxnSpPr>
        <p:spPr>
          <a:xfrm>
            <a:off x="9288379" y="5266185"/>
            <a:ext cx="0" cy="370579"/>
          </a:xfrm>
          <a:prstGeom prst="line">
            <a:avLst/>
          </a:prstGeom>
          <a:ln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EEB3B6B-ED76-2046-A046-4E465A77832B}"/>
              </a:ext>
            </a:extLst>
          </p:cNvPr>
          <p:cNvSpPr txBox="1"/>
          <p:nvPr/>
        </p:nvSpPr>
        <p:spPr>
          <a:xfrm>
            <a:off x="10628133" y="5253188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AA6CA18-8725-A366-FF60-0FB58700C067}"/>
              </a:ext>
            </a:extLst>
          </p:cNvPr>
          <p:cNvSpPr/>
          <p:nvPr/>
        </p:nvSpPr>
        <p:spPr>
          <a:xfrm rot="16200000">
            <a:off x="9938951" y="4624103"/>
            <a:ext cx="229259" cy="968449"/>
          </a:xfrm>
          <a:prstGeom prst="leftBrace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4CF7EB8B-C0D4-A51F-6003-50D3CFD32A0A}"/>
              </a:ext>
            </a:extLst>
          </p:cNvPr>
          <p:cNvSpPr/>
          <p:nvPr/>
        </p:nvSpPr>
        <p:spPr>
          <a:xfrm rot="16200000">
            <a:off x="10984482" y="4545638"/>
            <a:ext cx="229260" cy="1122608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722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96FF-B439-BBAA-1F4A-4C6619AA9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1748-66FB-BCF6-A1E0-9C807842E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trace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2BAB-378E-C258-CA66-671606C70A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97595" cy="4351338"/>
          </a:xfrm>
        </p:spPr>
        <p:txBody>
          <a:bodyPr/>
          <a:lstStyle/>
          <a:p>
            <a:r>
              <a:rPr lang="en-US" dirty="0"/>
              <a:t>Q=24GWh</a:t>
            </a:r>
          </a:p>
          <a:p>
            <a:r>
              <a:rPr lang="en-US" dirty="0"/>
              <a:t>Undersupply runs just over two days</a:t>
            </a:r>
          </a:p>
          <a:p>
            <a:r>
              <a:rPr lang="en-US" dirty="0"/>
              <a:t>Batter capacity changes the </a:t>
            </a:r>
            <a:r>
              <a:rPr lang="en-US" i="1" dirty="0"/>
              <a:t>magnitude </a:t>
            </a:r>
            <a:r>
              <a:rPr lang="en-US" dirty="0"/>
              <a:t>of the under supply, but </a:t>
            </a:r>
            <a:r>
              <a:rPr lang="en-US" i="1" dirty="0"/>
              <a:t>not</a:t>
            </a:r>
            <a:r>
              <a:rPr lang="en-US" dirty="0"/>
              <a:t> the timing</a:t>
            </a:r>
          </a:p>
          <a:p>
            <a:r>
              <a:rPr lang="en-US" dirty="0"/>
              <a:t>Until the undersupply time is eliminated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06E0DE9-F230-60AF-9ED2-63B567B89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4643148" y="681037"/>
            <a:ext cx="7264437" cy="433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CEF9A5-4AC2-EB49-3E5C-034A77BB4DEB}"/>
              </a:ext>
            </a:extLst>
          </p:cNvPr>
          <p:cNvSpPr txBox="1"/>
          <p:nvPr/>
        </p:nvSpPr>
        <p:spPr>
          <a:xfrm>
            <a:off x="5838972" y="5266185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9223F-8044-C003-5063-0462E6FB6DBA}"/>
              </a:ext>
            </a:extLst>
          </p:cNvPr>
          <p:cNvSpPr txBox="1"/>
          <p:nvPr/>
        </p:nvSpPr>
        <p:spPr>
          <a:xfrm>
            <a:off x="7800693" y="5228705"/>
            <a:ext cx="133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E84D51-8FD1-E9AE-F0A7-CD17A14FD59E}"/>
              </a:ext>
            </a:extLst>
          </p:cNvPr>
          <p:cNvSpPr txBox="1"/>
          <p:nvPr/>
        </p:nvSpPr>
        <p:spPr>
          <a:xfrm>
            <a:off x="9362114" y="5269254"/>
            <a:ext cx="1042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stressed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8AA320D1-D771-5561-EB9E-43095441A040}"/>
              </a:ext>
            </a:extLst>
          </p:cNvPr>
          <p:cNvSpPr/>
          <p:nvPr/>
        </p:nvSpPr>
        <p:spPr>
          <a:xfrm rot="16200000">
            <a:off x="6537032" y="3850338"/>
            <a:ext cx="237774" cy="2521726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83FD4E0-6AA9-0FEB-0840-8EA762B6E878}"/>
              </a:ext>
            </a:extLst>
          </p:cNvPr>
          <p:cNvSpPr/>
          <p:nvPr/>
        </p:nvSpPr>
        <p:spPr>
          <a:xfrm rot="16200000">
            <a:off x="8330848" y="4583992"/>
            <a:ext cx="230646" cy="1058777"/>
          </a:xfrm>
          <a:prstGeom prst="leftBrace">
            <a:avLst/>
          </a:prstGeom>
          <a:solidFill>
            <a:srgbClr val="0070C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E69EA-57DD-7FE3-1032-D83083A08355}"/>
              </a:ext>
            </a:extLst>
          </p:cNvPr>
          <p:cNvSpPr txBox="1"/>
          <p:nvPr/>
        </p:nvSpPr>
        <p:spPr>
          <a:xfrm>
            <a:off x="10628133" y="5253188"/>
            <a:ext cx="1624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Renewable shifting / fossil minimization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780E18BE-5CFC-3B1E-D89E-18A355361197}"/>
              </a:ext>
            </a:extLst>
          </p:cNvPr>
          <p:cNvSpPr/>
          <p:nvPr/>
        </p:nvSpPr>
        <p:spPr>
          <a:xfrm rot="16200000">
            <a:off x="9646422" y="4330189"/>
            <a:ext cx="227875" cy="1554892"/>
          </a:xfrm>
          <a:prstGeom prst="leftBrace">
            <a:avLst/>
          </a:prstGeom>
          <a:solidFill>
            <a:srgbClr val="FFFF0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6969AA08-604E-0AC5-5909-A3FF8DAE5F70}"/>
              </a:ext>
            </a:extLst>
          </p:cNvPr>
          <p:cNvSpPr/>
          <p:nvPr/>
        </p:nvSpPr>
        <p:spPr>
          <a:xfrm rot="16200000">
            <a:off x="10984482" y="4545638"/>
            <a:ext cx="229260" cy="1122608"/>
          </a:xfrm>
          <a:prstGeom prst="leftBrace">
            <a:avLst/>
          </a:prstGeom>
          <a:solidFill>
            <a:srgbClr val="92D050"/>
          </a:solidFill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01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965d95-ecc0-4720-b759-1f33c42ed7da}" enabled="1" method="Standard" siteId="{a0f29d7e-28cd-4f54-8442-7885aee7c08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866</TotalTime>
  <Words>205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Case study: Synthetic heatwave/wildfire</vt:lpstr>
      <vt:lpstr>Capacity needed to cover event</vt:lpstr>
      <vt:lpstr>Example trace</vt:lpstr>
      <vt:lpstr>Example trace</vt:lpstr>
      <vt:lpstr>Example trace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Meyers-Im, Bennet</dc:creator>
  <cp:lastModifiedBy>Meyers-Im, Bennet</cp:lastModifiedBy>
  <cp:revision>10</cp:revision>
  <dcterms:created xsi:type="dcterms:W3CDTF">2025-07-18T05:23:21Z</dcterms:created>
  <dcterms:modified xsi:type="dcterms:W3CDTF">2025-07-18T19:57:03Z</dcterms:modified>
</cp:coreProperties>
</file>