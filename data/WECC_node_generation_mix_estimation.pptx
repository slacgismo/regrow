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8" r:id="rId4"/>
    <p:sldId id="257" r:id="rId5"/>
    <p:sldId id="263" r:id="rId6"/>
    <p:sldId id="264" r:id="rId7"/>
    <p:sldId id="260" r:id="rId8"/>
    <p:sldId id="261" r:id="rId9"/>
    <p:sldId id="262" r:id="rId10"/>
    <p:sldId id="265" r:id="rId11"/>
    <p:sldId id="266" r:id="rId12"/>
    <p:sldId id="267" r:id="rId13"/>
    <p:sldId id="269" r:id="rId14"/>
    <p:sldId id="270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09"/>
    <p:restoredTop sz="97013"/>
  </p:normalViewPr>
  <p:slideViewPr>
    <p:cSldViewPr snapToGrid="0">
      <p:cViewPr varScale="1">
        <p:scale>
          <a:sx n="160" d="100"/>
          <a:sy n="160" d="100"/>
        </p:scale>
        <p:origin x="2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C168D-2877-694C-998A-5C30BD117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F8116-8BA7-293C-D014-F0EFF2303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2D9C3-E053-1C3B-2974-9F4283BCD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C443-201D-9F4B-BB34-EE084045E3E3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BA499-6E3D-CBCD-FC60-E9EB1FD6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C80CB-C21B-FA99-AD45-AD74EE5AB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9373-BA82-DD4A-A068-FB5AB875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2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3DFDA-FF7F-67CF-49A1-CE8EF97E3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5D9D7-FC29-9A54-BF5B-D9897ACA0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6470D-608F-4F08-B387-B6E2541E1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C443-201D-9F4B-BB34-EE084045E3E3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E3079-D9F1-5C62-3DB3-B6AF2320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C56A6-91E3-C14E-A2DE-95064801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9373-BA82-DD4A-A068-FB5AB875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34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B1534-61EC-9897-1BDA-0005689ED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8DFFB-99FC-FCAD-C6DB-029DA9062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BDD04-B35B-1853-EF59-1E6312076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C443-201D-9F4B-BB34-EE084045E3E3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10769-7B00-164D-D9E0-D9336AB7F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F4FE-180A-D7C9-619B-E3E4E40A8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9373-BA82-DD4A-A068-FB5AB875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83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015BC-06D1-081B-D65B-177352BC5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F1CAF-7809-B2A7-7108-668831C147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A8A76-42A3-DFFA-012F-76F0D1046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024DC-A135-2C20-FC1E-8901D5961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C443-201D-9F4B-BB34-EE084045E3E3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BFE33-AB92-4581-E92E-33DA3F088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7FE30-71A0-87B6-0082-5B4FDB4B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9373-BA82-DD4A-A068-FB5AB875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93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79A7A-C6D4-E305-74AD-8913D2454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BDDA9-F44A-5467-9712-E644B86A2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AE7EB-B063-DC6E-2ECA-946ED585F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0242A1-2D69-536F-B86A-B57A3DB9B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CE1AD-C6D8-4FBB-95F2-E4BB4B2710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F18E1B-F124-5667-7ED1-0A519AA33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C443-201D-9F4B-BB34-EE084045E3E3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33FB8C-7EAB-E290-2DB9-9947CD47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1B17BC-71CE-F443-E3BA-BEDE66CD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9373-BA82-DD4A-A068-FB5AB875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44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EA44-BEF9-9B6B-351D-7D401A02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37D2A6-E222-C296-218D-8C11A191A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C443-201D-9F4B-BB34-EE084045E3E3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BEDA2-94AF-97CA-643C-D471D5F1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E655D-F912-17E5-E10C-5F51FBFF8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9373-BA82-DD4A-A068-FB5AB875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667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ACAA0B-0D6B-9459-ECDF-AB90BBEAE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C443-201D-9F4B-BB34-EE084045E3E3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2706AD-372D-9C3D-4079-0C255D82A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67CC4-26CC-CC38-53F4-242DF956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9373-BA82-DD4A-A068-FB5AB875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64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1961-5CC7-ED7A-A231-5B2E28C7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CBF22-2463-61D8-D8B5-D7AD5FC3A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20016-4438-207D-AC5D-8BCFD1611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13D8A-2556-2E86-57E4-6C84385D6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C443-201D-9F4B-BB34-EE084045E3E3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3A1F2-2821-1339-8049-3CD001ADE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ACABA-6F11-3B72-802E-97CD3D7A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9373-BA82-DD4A-A068-FB5AB875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05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014F6-17A7-8074-AF8C-AF395759A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076F15-359A-2F60-7214-C3E277E79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1C28E-7BF9-529F-5963-877BA3310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5BF73-D6F1-08CD-D245-8C9B29E9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C443-201D-9F4B-BB34-EE084045E3E3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1AEA8-90CD-FF93-9EA0-2CCF4038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64C67-27F4-D707-55D3-A29A289E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9373-BA82-DD4A-A068-FB5AB875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15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08A68-591C-0B42-CF81-53DDCC40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D8A84-B933-A5FD-58B0-2BD2108F9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26CAE-56CA-0113-583A-002FD0B7A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C443-201D-9F4B-BB34-EE084045E3E3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F483F-F876-D95D-3993-DAC3E59F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933D-96C2-F27F-815B-FF054B003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9373-BA82-DD4A-A068-FB5AB875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6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26DC4-981F-0C69-0CE7-FC7C68BC1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46504-498E-4CDC-9AE3-F94DE0B3C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676D8-D5C1-7A10-AC26-370DEE231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C443-201D-9F4B-BB34-EE084045E3E3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C4703-32C8-689D-CC2D-045F1ABAF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0F737-C60D-8B6E-E981-B8BE3B24F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9373-BA82-DD4A-A068-FB5AB875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67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26262A-27C6-AD7F-3356-22B52722C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A325B-175D-49C5-C94E-705992B67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D1273-19F7-53EC-8B3C-E88704568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91C443-201D-9F4B-BB34-EE084045E3E3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3C67D-759C-96B9-AA52-8F6590F369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83416-026E-D84B-C3D2-FFF28E02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79373-BA82-DD4A-A068-FB5AB875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bstract/document/6039476" TargetMode="External"/><Relationship Id="rId2" Type="http://schemas.openxmlformats.org/officeDocument/2006/relationships/hyperlink" Target="https://ieeexplore.ieee.org/abstract/document/9299666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C20C8-B741-420F-1002-28617099A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Update on WECC node renewable generation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F8305-DDBB-AD7F-B634-5B5DF4E43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7618"/>
            <a:ext cx="9144000" cy="1130181"/>
          </a:xfrm>
        </p:spPr>
        <p:txBody>
          <a:bodyPr/>
          <a:lstStyle/>
          <a:p>
            <a:r>
              <a:rPr lang="en-US" dirty="0"/>
              <a:t>Bennet Meyers 11/18/25</a:t>
            </a:r>
          </a:p>
        </p:txBody>
      </p:sp>
    </p:spTree>
    <p:extLst>
      <p:ext uri="{BB962C8B-B14F-4D97-AF65-F5344CB8AC3E}">
        <p14:creationId xmlns:p14="http://schemas.microsoft.com/office/powerpoint/2010/main" val="154078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A960E-6FFC-E236-76EA-83FD0246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26F5E-8E35-25BE-62CE-B2AF6D0F8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working with the “WECC 240” model of the electrical grid in the western United States</a:t>
            </a:r>
          </a:p>
          <a:p>
            <a:r>
              <a:rPr lang="en-US" dirty="0"/>
              <a:t>This model defines 243 buses, corresponding to 126 unique locations (nodes)</a:t>
            </a:r>
          </a:p>
          <a:p>
            <a:r>
              <a:rPr lang="en-US" dirty="0"/>
              <a:t>To model the western grid, we need to know the power generation and load at each bus/node</a:t>
            </a:r>
          </a:p>
          <a:p>
            <a:pPr lvl="1"/>
            <a:r>
              <a:rPr lang="en-US" dirty="0"/>
              <a:t>Must select subset of 126 unique locations to place generation</a:t>
            </a:r>
          </a:p>
          <a:p>
            <a:r>
              <a:rPr lang="en-US" dirty="0"/>
              <a:t>The focus here is on assigning solar (PV) and wind (WT) generation at WECC 240 nodes</a:t>
            </a:r>
          </a:p>
        </p:txBody>
      </p:sp>
    </p:spTree>
    <p:extLst>
      <p:ext uri="{BB962C8B-B14F-4D97-AF65-F5344CB8AC3E}">
        <p14:creationId xmlns:p14="http://schemas.microsoft.com/office/powerpoint/2010/main" val="3530457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7BA9-2FE0-CBB5-4C5A-FD78820AE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52C81-EF8E-1EE3-AB2F-3528F861B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Information on renewable generation mix at nodes prior to 11/17/25 was incorrect—not based on any previous model or newly acquired data set</a:t>
            </a:r>
          </a:p>
          <a:p>
            <a:r>
              <a:rPr lang="en-US" dirty="0"/>
              <a:t>We now have 7 estimates of the solar and wind generation mix at each node:</a:t>
            </a:r>
          </a:p>
          <a:p>
            <a:pPr lvl="1"/>
            <a:r>
              <a:rPr lang="en-US" dirty="0"/>
              <a:t>Published 2011 WECC model</a:t>
            </a:r>
          </a:p>
          <a:p>
            <a:pPr lvl="1"/>
            <a:r>
              <a:rPr lang="en-US" dirty="0"/>
              <a:t>Published 2020 WECC model</a:t>
            </a:r>
          </a:p>
          <a:p>
            <a:pPr lvl="1"/>
            <a:r>
              <a:rPr lang="en-US" dirty="0"/>
              <a:t>2018 USPVDB &amp; USWTDB data</a:t>
            </a:r>
          </a:p>
          <a:p>
            <a:pPr lvl="1"/>
            <a:r>
              <a:rPr lang="en-US" dirty="0"/>
              <a:t>2019 US{PV,WT}DB data</a:t>
            </a:r>
          </a:p>
          <a:p>
            <a:pPr lvl="1"/>
            <a:r>
              <a:rPr lang="en-US" dirty="0"/>
              <a:t>2020 US {PV,WT} DB data</a:t>
            </a:r>
          </a:p>
          <a:p>
            <a:pPr lvl="1"/>
            <a:r>
              <a:rPr lang="en-US" dirty="0"/>
              <a:t>2021 US {PV,WT} DB data</a:t>
            </a:r>
          </a:p>
          <a:p>
            <a:pPr lvl="1"/>
            <a:r>
              <a:rPr lang="en-US" dirty="0"/>
              <a:t>2022 US {PV,WT} DB data</a:t>
            </a:r>
          </a:p>
          <a:p>
            <a:r>
              <a:rPr lang="en-US" dirty="0"/>
              <a:t>Final selection will be based on US {PV,WT}DB data for each year, plus manual additions (Vancouver, BC)</a:t>
            </a:r>
          </a:p>
        </p:txBody>
      </p:sp>
    </p:spTree>
    <p:extLst>
      <p:ext uri="{BB962C8B-B14F-4D97-AF65-F5344CB8AC3E}">
        <p14:creationId xmlns:p14="http://schemas.microsoft.com/office/powerpoint/2010/main" val="3099911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982C4-CDEF-1472-DD6D-60210CA6E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recent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3D698-4FBD-85DD-5E85-FE84B8C07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sz="2000" dirty="0"/>
              <a:t>Nov 6–7: began fusing renewable, load, and forecast data streams at nodes, for use in forecaster development</a:t>
            </a:r>
          </a:p>
          <a:p>
            <a:r>
              <a:rPr lang="en-US" sz="2000" dirty="0"/>
              <a:t>Nov 10: sent email asking questions regarding association of PV generators in Antelope Valley/Mojave Desert to David C. and Kirsten P., kicked off review of data and methods for assigning generation to load</a:t>
            </a:r>
          </a:p>
          <a:p>
            <a:r>
              <a:rPr lang="en-US" sz="2000" dirty="0"/>
              <a:t>Nov 12: discussed ongoing inconsistencies between input, intermediate, and final results of node mix estimation at REGROW project meeting</a:t>
            </a:r>
          </a:p>
          <a:p>
            <a:r>
              <a:rPr lang="en-US" sz="2000" dirty="0"/>
              <a:t>Nov 12–13: identified errors in existing logic, code, and data</a:t>
            </a:r>
          </a:p>
          <a:p>
            <a:r>
              <a:rPr lang="en-US" sz="2000" dirty="0"/>
              <a:t>Nov 14: clarified state of generation mix on existing, published WECC-240 models (2011 and 2018)</a:t>
            </a:r>
          </a:p>
          <a:p>
            <a:r>
              <a:rPr lang="en-US" sz="2000" dirty="0"/>
              <a:t>Nov 17: finalized-data driven methods and comparisons</a:t>
            </a:r>
          </a:p>
        </p:txBody>
      </p:sp>
    </p:spTree>
    <p:extLst>
      <p:ext uri="{BB962C8B-B14F-4D97-AF65-F5344CB8AC3E}">
        <p14:creationId xmlns:p14="http://schemas.microsoft.com/office/powerpoint/2010/main" val="2366385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EA664-C7EE-5137-54BD-DF27F0C67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WECC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8D586-1AD0-2FAE-476D-48560C531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240 WECC model we are using is derived from </a:t>
            </a:r>
            <a:r>
              <a:rPr lang="en-US" dirty="0">
                <a:hlinkClick r:id="rId2"/>
              </a:rPr>
              <a:t>2020 paper</a:t>
            </a:r>
            <a:r>
              <a:rPr lang="en-US" dirty="0"/>
              <a:t>, which itself is derived from a </a:t>
            </a:r>
            <a:r>
              <a:rPr lang="en-US" dirty="0">
                <a:hlinkClick r:id="rId3"/>
              </a:rPr>
              <a:t>2011 model</a:t>
            </a:r>
            <a:r>
              <a:rPr lang="en-US" dirty="0"/>
              <a:t>, which first establishes 240 nodes as the basis for a model of WECC</a:t>
            </a:r>
          </a:p>
          <a:p>
            <a:r>
              <a:rPr lang="en-US" dirty="0"/>
              <a:t>Both previous models include configurations (estimates) of the generation mix at each of the 240 nodes</a:t>
            </a:r>
          </a:p>
          <a:p>
            <a:r>
              <a:rPr lang="en-US" dirty="0"/>
              <a:t>The 2011 model is based on available data in 2011</a:t>
            </a:r>
          </a:p>
          <a:p>
            <a:r>
              <a:rPr lang="en-US" dirty="0"/>
              <a:t>The 2020 model is updated with new power plant data through 2018</a:t>
            </a:r>
          </a:p>
          <a:p>
            <a:r>
              <a:rPr lang="en-US" dirty="0"/>
              <a:t>We’re referring to these as “</a:t>
            </a:r>
            <a:r>
              <a:rPr lang="en-US" b="1" dirty="0"/>
              <a:t>2011m</a:t>
            </a:r>
            <a:r>
              <a:rPr lang="en-US" dirty="0"/>
              <a:t>” and “</a:t>
            </a:r>
            <a:r>
              <a:rPr lang="en-US" b="1" dirty="0"/>
              <a:t>2018m</a:t>
            </a:r>
            <a:r>
              <a:rPr lang="en-US" dirty="0"/>
              <a:t>” for the 240-WECC model generation as of 2011 and 2018, respectively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12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1AFD-BA36-37AC-DB45-231EDEE1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USGS US{PV,WT}DB based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34616-B688-BA4C-FD15-B524B2D14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 databases by space and time, using custom code</a:t>
            </a:r>
          </a:p>
          <a:p>
            <a:pPr lvl="1"/>
            <a:r>
              <a:rPr lang="en-US" dirty="0"/>
              <a:t>Locations in WECC zip codes</a:t>
            </a:r>
          </a:p>
          <a:p>
            <a:pPr lvl="1"/>
            <a:r>
              <a:rPr lang="en-US" dirty="0"/>
              <a:t>Built in or before 2018, 2019, 2020, 2021, 2022</a:t>
            </a:r>
          </a:p>
          <a:p>
            <a:r>
              <a:rPr lang="en-US" dirty="0"/>
              <a:t>Find closest WECC node location to each generator</a:t>
            </a:r>
          </a:p>
          <a:p>
            <a:pPr lvl="1"/>
            <a:r>
              <a:rPr lang="en-US" dirty="0"/>
              <a:t>Haversine distance</a:t>
            </a:r>
          </a:p>
          <a:p>
            <a:pPr lvl="1"/>
            <a:r>
              <a:rPr lang="en-US" dirty="0"/>
              <a:t>Does not consider actual grid topology</a:t>
            </a:r>
          </a:p>
          <a:p>
            <a:r>
              <a:rPr lang="en-US" dirty="0"/>
              <a:t> Add PV, WT generation to nodes that are closest to some generator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572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FF30-7153-DBA9-671D-F73932F28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PV and WT growth in WECC based on USPVDBD and USWTDB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BB4F0-7B7B-96AF-7F77-D15089581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25" y="1753991"/>
            <a:ext cx="5486400" cy="379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F9178D-843C-E468-817B-2EF8179F0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7290"/>
            <a:ext cx="5486400" cy="37501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BF229F-337F-657A-1536-DE78F13C886D}"/>
              </a:ext>
            </a:extLst>
          </p:cNvPr>
          <p:cNvSpPr txBox="1"/>
          <p:nvPr/>
        </p:nvSpPr>
        <p:spPr>
          <a:xfrm>
            <a:off x="458602" y="5828231"/>
            <a:ext cx="5101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 is by power plant site (aggregates inverters)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5C143E-7C56-9574-5261-4B8E02A83139}"/>
              </a:ext>
            </a:extLst>
          </p:cNvPr>
          <p:cNvSpPr txBox="1"/>
          <p:nvPr/>
        </p:nvSpPr>
        <p:spPr>
          <a:xfrm>
            <a:off x="7306889" y="5896598"/>
            <a:ext cx="306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 is by individual turbine</a:t>
            </a:r>
          </a:p>
        </p:txBody>
      </p:sp>
    </p:spTree>
    <p:extLst>
      <p:ext uri="{BB962C8B-B14F-4D97-AF65-F5344CB8AC3E}">
        <p14:creationId xmlns:p14="http://schemas.microsoft.com/office/powerpoint/2010/main" val="2886728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0CFAD-19CE-C5FB-C7B8-7358DF648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0715"/>
            <a:ext cx="10515600" cy="1325563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Supervenn</a:t>
            </a:r>
            <a:r>
              <a:rPr lang="en-US" dirty="0"/>
              <a:t>” diagram of seven mix estimates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7BF3CF-6546-5B60-8C11-2DF19DA47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13" y="2316094"/>
            <a:ext cx="5486400" cy="4210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409B57-B1B9-B42C-4370-64A996F9B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368" y="2316094"/>
            <a:ext cx="5486400" cy="42109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0F6378-0545-3808-FBB6-55F3C014FD9A}"/>
              </a:ext>
            </a:extLst>
          </p:cNvPr>
          <p:cNvSpPr txBox="1"/>
          <p:nvPr/>
        </p:nvSpPr>
        <p:spPr>
          <a:xfrm>
            <a:off x="2278710" y="6449280"/>
            <a:ext cx="1878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WECC PV nodes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4D7B47-CB62-EC11-302A-0BD8D164A51C}"/>
              </a:ext>
            </a:extLst>
          </p:cNvPr>
          <p:cNvSpPr txBox="1"/>
          <p:nvPr/>
        </p:nvSpPr>
        <p:spPr>
          <a:xfrm>
            <a:off x="8203085" y="6449280"/>
            <a:ext cx="1932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WECC WT nodes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96855C3-8CF8-D94D-48B7-71229F6B7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1449"/>
            <a:ext cx="10515600" cy="4667250"/>
          </a:xfrm>
        </p:spPr>
        <p:txBody>
          <a:bodyPr>
            <a:normAutofit/>
          </a:bodyPr>
          <a:lstStyle/>
          <a:p>
            <a:r>
              <a:rPr lang="en-US" sz="2000" dirty="0"/>
              <a:t>Top numbers: count of sets with each intersection</a:t>
            </a:r>
          </a:p>
          <a:p>
            <a:r>
              <a:rPr lang="en-US" sz="2000" dirty="0"/>
              <a:t>Bottom numbers: count of items in each intersection</a:t>
            </a:r>
          </a:p>
          <a:p>
            <a:r>
              <a:rPr lang="en-US" sz="2000" dirty="0"/>
              <a:t>Right numbers: count of items in each set (7 in total)</a:t>
            </a:r>
          </a:p>
        </p:txBody>
      </p:sp>
    </p:spTree>
    <p:extLst>
      <p:ext uri="{BB962C8B-B14F-4D97-AF65-F5344CB8AC3E}">
        <p14:creationId xmlns:p14="http://schemas.microsoft.com/office/powerpoint/2010/main" val="2964540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207CD-1BF6-64C1-A0B3-717E1A855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Locations in 2018m but </a:t>
            </a:r>
            <a:r>
              <a:rPr lang="en-US" i="1" dirty="0"/>
              <a:t>not</a:t>
            </a:r>
            <a:r>
              <a:rPr lang="en-US" dirty="0"/>
              <a:t> 2022d</a:t>
            </a:r>
          </a:p>
        </p:txBody>
      </p:sp>
      <p:pic>
        <p:nvPicPr>
          <p:cNvPr id="9" name="Content Placeholder 8" descr="Map&#10;&#10;AI-generated content may be incorrect.">
            <a:extLst>
              <a:ext uri="{FF2B5EF4-FFF2-40B4-BE49-F238E27FC236}">
                <a16:creationId xmlns:a16="http://schemas.microsoft.com/office/drawing/2014/main" id="{4A06007F-8E00-4B07-6C46-C66C929C3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6671" r="26411"/>
          <a:stretch>
            <a:fillRect/>
          </a:stretch>
        </p:blipFill>
        <p:spPr>
          <a:xfrm>
            <a:off x="4544292" y="1742815"/>
            <a:ext cx="3655510" cy="4757307"/>
          </a:xfrm>
        </p:spPr>
      </p:pic>
      <p:pic>
        <p:nvPicPr>
          <p:cNvPr id="11" name="Picture 10" descr="Map&#10;&#10;AI-generated content may be incorrect.">
            <a:extLst>
              <a:ext uri="{FF2B5EF4-FFF2-40B4-BE49-F238E27FC236}">
                <a16:creationId xmlns:a16="http://schemas.microsoft.com/office/drawing/2014/main" id="{CEBD777C-2C7E-B0E5-622D-5613E8B6A2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765" r="26203"/>
          <a:stretch>
            <a:fillRect/>
          </a:stretch>
        </p:blipFill>
        <p:spPr>
          <a:xfrm>
            <a:off x="8378537" y="1742815"/>
            <a:ext cx="3655510" cy="47458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EAB40D-82F0-ED59-00F7-38C6DF3B125D}"/>
              </a:ext>
            </a:extLst>
          </p:cNvPr>
          <p:cNvSpPr txBox="1"/>
          <p:nvPr/>
        </p:nvSpPr>
        <p:spPr>
          <a:xfrm>
            <a:off x="6146985" y="6488668"/>
            <a:ext cx="450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444941-A3B2-F2A3-E9E6-DF8BC80A6046}"/>
              </a:ext>
            </a:extLst>
          </p:cNvPr>
          <p:cNvSpPr txBox="1"/>
          <p:nvPr/>
        </p:nvSpPr>
        <p:spPr>
          <a:xfrm>
            <a:off x="9954331" y="6488668"/>
            <a:ext cx="503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4ACEECA-8863-1D74-A336-3419DB3AF34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36555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126 in total (unique node locations)</a:t>
            </a:r>
          </a:p>
          <a:p>
            <a:r>
              <a:rPr lang="en-US" dirty="0"/>
              <a:t>Orange dots are nodes included in 2018m but not 2022d</a:t>
            </a:r>
          </a:p>
          <a:p>
            <a:r>
              <a:rPr lang="en-US" dirty="0"/>
              <a:t>These require more investigation</a:t>
            </a:r>
          </a:p>
          <a:p>
            <a:r>
              <a:rPr lang="en-US" dirty="0"/>
              <a:t>Would potentially be removing generation from these nodes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62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33A9D-2C74-88BE-B200-18B48D7F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from previous papers/models</a:t>
            </a:r>
          </a:p>
        </p:txBody>
      </p:sp>
      <p:pic>
        <p:nvPicPr>
          <p:cNvPr id="5" name="Content Placeholder 4" descr="Text&#10;&#10;AI-generated content may be incorrect.">
            <a:extLst>
              <a:ext uri="{FF2B5EF4-FFF2-40B4-BE49-F238E27FC236}">
                <a16:creationId xmlns:a16="http://schemas.microsoft.com/office/drawing/2014/main" id="{B957D608-E706-4A22-98FF-04625AAD6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857" y="1846115"/>
            <a:ext cx="4635500" cy="3619500"/>
          </a:xfrm>
        </p:spPr>
      </p:pic>
      <p:pic>
        <p:nvPicPr>
          <p:cNvPr id="7" name="Picture 6" descr="Text&#10;&#10;AI-generated content may be incorrect.">
            <a:extLst>
              <a:ext uri="{FF2B5EF4-FFF2-40B4-BE49-F238E27FC236}">
                <a16:creationId xmlns:a16="http://schemas.microsoft.com/office/drawing/2014/main" id="{30889643-215F-580A-534E-AC86BEDCA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743" y="1846115"/>
            <a:ext cx="4470400" cy="3276600"/>
          </a:xfrm>
          <a:prstGeom prst="rect">
            <a:avLst/>
          </a:prstGeom>
        </p:spPr>
      </p:pic>
      <p:pic>
        <p:nvPicPr>
          <p:cNvPr id="9" name="Picture 8" descr="Text, letter&#10;&#10;AI-generated content may be incorrect.">
            <a:extLst>
              <a:ext uri="{FF2B5EF4-FFF2-40B4-BE49-F238E27FC236}">
                <a16:creationId xmlns:a16="http://schemas.microsoft.com/office/drawing/2014/main" id="{B659489A-813E-42B0-B887-07BB7B57E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743" y="5177387"/>
            <a:ext cx="4584700" cy="1600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777363-15B6-2490-4CC8-EC7DE14E8D73}"/>
              </a:ext>
            </a:extLst>
          </p:cNvPr>
          <p:cNvSpPr txBox="1"/>
          <p:nvPr/>
        </p:nvSpPr>
        <p:spPr>
          <a:xfrm>
            <a:off x="2825411" y="155151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8BBF2E-2801-527E-D8FF-95BE6CDC7FF1}"/>
              </a:ext>
            </a:extLst>
          </p:cNvPr>
          <p:cNvSpPr txBox="1"/>
          <p:nvPr/>
        </p:nvSpPr>
        <p:spPr>
          <a:xfrm>
            <a:off x="8827897" y="155151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2020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69AA78-FE21-40EF-5070-1B5B3D6762FF}"/>
              </a:ext>
            </a:extLst>
          </p:cNvPr>
          <p:cNvCxnSpPr>
            <a:cxnSpLocks/>
          </p:cNvCxnSpPr>
          <p:nvPr/>
        </p:nvCxnSpPr>
        <p:spPr>
          <a:xfrm>
            <a:off x="4645891" y="2050472"/>
            <a:ext cx="65578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14C8F1-EF97-1723-C057-BBBE2D8BDEF8}"/>
              </a:ext>
            </a:extLst>
          </p:cNvPr>
          <p:cNvCxnSpPr>
            <a:cxnSpLocks/>
          </p:cNvCxnSpPr>
          <p:nvPr/>
        </p:nvCxnSpPr>
        <p:spPr>
          <a:xfrm>
            <a:off x="1011382" y="2267527"/>
            <a:ext cx="42902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826E0D8-96BF-B7CD-89AE-8298BE7520B4}"/>
              </a:ext>
            </a:extLst>
          </p:cNvPr>
          <p:cNvCxnSpPr>
            <a:cxnSpLocks/>
          </p:cNvCxnSpPr>
          <p:nvPr/>
        </p:nvCxnSpPr>
        <p:spPr>
          <a:xfrm>
            <a:off x="1011382" y="2479963"/>
            <a:ext cx="353290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431B6F9-CF58-89F7-4E9F-88E89B5F393E}"/>
              </a:ext>
            </a:extLst>
          </p:cNvPr>
          <p:cNvCxnSpPr>
            <a:cxnSpLocks/>
          </p:cNvCxnSpPr>
          <p:nvPr/>
        </p:nvCxnSpPr>
        <p:spPr>
          <a:xfrm>
            <a:off x="1316182" y="3948545"/>
            <a:ext cx="39854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3C244A9-5AB1-E8D7-2580-3FDFB0AE64B6}"/>
              </a:ext>
            </a:extLst>
          </p:cNvPr>
          <p:cNvCxnSpPr>
            <a:cxnSpLocks/>
          </p:cNvCxnSpPr>
          <p:nvPr/>
        </p:nvCxnSpPr>
        <p:spPr>
          <a:xfrm>
            <a:off x="2036618" y="4170218"/>
            <a:ext cx="166716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6D6F416-F6C4-EE12-9123-F9931E49E9A1}"/>
              </a:ext>
            </a:extLst>
          </p:cNvPr>
          <p:cNvCxnSpPr>
            <a:cxnSpLocks/>
          </p:cNvCxnSpPr>
          <p:nvPr/>
        </p:nvCxnSpPr>
        <p:spPr>
          <a:xfrm>
            <a:off x="2751520" y="4382653"/>
            <a:ext cx="107603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A1730F5-CFDF-6E7E-2A96-C1DA1786D155}"/>
              </a:ext>
            </a:extLst>
          </p:cNvPr>
          <p:cNvCxnSpPr>
            <a:cxnSpLocks/>
          </p:cNvCxnSpPr>
          <p:nvPr/>
        </p:nvCxnSpPr>
        <p:spPr>
          <a:xfrm>
            <a:off x="7227453" y="2082801"/>
            <a:ext cx="404091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DF28F04-75E2-BBE8-39E1-D6EDB3A5DD64}"/>
              </a:ext>
            </a:extLst>
          </p:cNvPr>
          <p:cNvCxnSpPr>
            <a:cxnSpLocks/>
          </p:cNvCxnSpPr>
          <p:nvPr/>
        </p:nvCxnSpPr>
        <p:spPr>
          <a:xfrm>
            <a:off x="7001166" y="2272145"/>
            <a:ext cx="426719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6AFF105-36E7-63DE-CD81-5D2440143943}"/>
              </a:ext>
            </a:extLst>
          </p:cNvPr>
          <p:cNvCxnSpPr>
            <a:cxnSpLocks/>
          </p:cNvCxnSpPr>
          <p:nvPr/>
        </p:nvCxnSpPr>
        <p:spPr>
          <a:xfrm>
            <a:off x="6980623" y="2447636"/>
            <a:ext cx="428774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A1A7D7D-4ED5-AA5A-2B94-2F60B726FAA5}"/>
              </a:ext>
            </a:extLst>
          </p:cNvPr>
          <p:cNvCxnSpPr>
            <a:cxnSpLocks/>
          </p:cNvCxnSpPr>
          <p:nvPr/>
        </p:nvCxnSpPr>
        <p:spPr>
          <a:xfrm>
            <a:off x="6976342" y="2641600"/>
            <a:ext cx="300816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757ECC3-E80F-ACC1-AA2C-A27105EEB507}"/>
              </a:ext>
            </a:extLst>
          </p:cNvPr>
          <p:cNvCxnSpPr>
            <a:cxnSpLocks/>
          </p:cNvCxnSpPr>
          <p:nvPr/>
        </p:nvCxnSpPr>
        <p:spPr>
          <a:xfrm>
            <a:off x="7418532" y="5493326"/>
            <a:ext cx="373899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065BA37-6A11-C791-5D86-D55E089B92D8}"/>
              </a:ext>
            </a:extLst>
          </p:cNvPr>
          <p:cNvCxnSpPr>
            <a:cxnSpLocks/>
          </p:cNvCxnSpPr>
          <p:nvPr/>
        </p:nvCxnSpPr>
        <p:spPr>
          <a:xfrm>
            <a:off x="7418532" y="5682672"/>
            <a:ext cx="245514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6CA2A5F-BB53-EDE7-B9AE-693595ED8263}"/>
              </a:ext>
            </a:extLst>
          </p:cNvPr>
          <p:cNvCxnSpPr>
            <a:cxnSpLocks/>
          </p:cNvCxnSpPr>
          <p:nvPr/>
        </p:nvCxnSpPr>
        <p:spPr>
          <a:xfrm>
            <a:off x="7418532" y="5978235"/>
            <a:ext cx="373899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E3E7A60-54A7-D1FF-EB3A-9B2908A765B9}"/>
              </a:ext>
            </a:extLst>
          </p:cNvPr>
          <p:cNvCxnSpPr>
            <a:cxnSpLocks/>
          </p:cNvCxnSpPr>
          <p:nvPr/>
        </p:nvCxnSpPr>
        <p:spPr>
          <a:xfrm>
            <a:off x="7418532" y="6162963"/>
            <a:ext cx="373899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6E5D2E3-A4CD-89F6-7476-1A10948DB7A1}"/>
              </a:ext>
            </a:extLst>
          </p:cNvPr>
          <p:cNvCxnSpPr>
            <a:cxnSpLocks/>
          </p:cNvCxnSpPr>
          <p:nvPr/>
        </p:nvCxnSpPr>
        <p:spPr>
          <a:xfrm>
            <a:off x="7418532" y="6347690"/>
            <a:ext cx="373899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9903E0D-4E55-6D16-99BC-7052B0AC9E10}"/>
              </a:ext>
            </a:extLst>
          </p:cNvPr>
          <p:cNvCxnSpPr>
            <a:cxnSpLocks/>
          </p:cNvCxnSpPr>
          <p:nvPr/>
        </p:nvCxnSpPr>
        <p:spPr>
          <a:xfrm>
            <a:off x="7418532" y="6532417"/>
            <a:ext cx="13098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FA803B4-0585-354A-83EB-42B2DB5E4442}"/>
              </a:ext>
            </a:extLst>
          </p:cNvPr>
          <p:cNvSpPr txBox="1"/>
          <p:nvPr/>
        </p:nvSpPr>
        <p:spPr>
          <a:xfrm>
            <a:off x="6920923" y="5066206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[…]</a:t>
            </a:r>
          </a:p>
        </p:txBody>
      </p:sp>
    </p:spTree>
    <p:extLst>
      <p:ext uri="{BB962C8B-B14F-4D97-AF65-F5344CB8AC3E}">
        <p14:creationId xmlns:p14="http://schemas.microsoft.com/office/powerpoint/2010/main" val="576031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A0BE5-48F5-6221-243D-38D67F511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 on previous papers/models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E58FD-9782-6DF1-CC83-75124D228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Very much a “by hand” process previously</a:t>
            </a:r>
          </a:p>
          <a:p>
            <a:r>
              <a:rPr lang="en-US" dirty="0"/>
              <a:t>The available data was limited</a:t>
            </a:r>
          </a:p>
          <a:p>
            <a:r>
              <a:rPr lang="en-US" dirty="0"/>
              <a:t>Basically, having set a model size and topology, they figured out generation mix from public disclosures, utility studies, and figuring out what was nearby</a:t>
            </a:r>
          </a:p>
          <a:p>
            <a:r>
              <a:rPr lang="en-US" dirty="0"/>
              <a:t>It is reasonable to update these models based on new, better data</a:t>
            </a:r>
          </a:p>
        </p:txBody>
      </p:sp>
    </p:spTree>
    <p:extLst>
      <p:ext uri="{BB962C8B-B14F-4D97-AF65-F5344CB8AC3E}">
        <p14:creationId xmlns:p14="http://schemas.microsoft.com/office/powerpoint/2010/main" val="2451414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91B3C-C10C-44BE-58EB-169B06A0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0267" y="-143969"/>
            <a:ext cx="10515600" cy="1325563"/>
          </a:xfrm>
        </p:spPr>
        <p:txBody>
          <a:bodyPr/>
          <a:lstStyle/>
          <a:p>
            <a:r>
              <a:rPr lang="en-US" dirty="0"/>
              <a:t>Case study: Wind in NV</a:t>
            </a:r>
          </a:p>
        </p:txBody>
      </p:sp>
      <p:pic>
        <p:nvPicPr>
          <p:cNvPr id="5" name="Picture 4" descr="Map&#10;&#10;AI-generated content may be incorrect.">
            <a:extLst>
              <a:ext uri="{FF2B5EF4-FFF2-40B4-BE49-F238E27FC236}">
                <a16:creationId xmlns:a16="http://schemas.microsoft.com/office/drawing/2014/main" id="{8722E2AA-ABD7-D255-4C2B-B5B921D44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418" y="972586"/>
            <a:ext cx="2624483" cy="3200400"/>
          </a:xfrm>
          <a:prstGeom prst="rect">
            <a:avLst/>
          </a:prstGeom>
        </p:spPr>
      </p:pic>
      <p:pic>
        <p:nvPicPr>
          <p:cNvPr id="7" name="Picture 6" descr="A picture containing nature&#10;&#10;AI-generated content may be incorrect.">
            <a:extLst>
              <a:ext uri="{FF2B5EF4-FFF2-40B4-BE49-F238E27FC236}">
                <a16:creationId xmlns:a16="http://schemas.microsoft.com/office/drawing/2014/main" id="{EB0B041D-55E9-5D3A-AC53-CDFAD209F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908" y="972586"/>
            <a:ext cx="2552920" cy="3200400"/>
          </a:xfrm>
          <a:prstGeom prst="rect">
            <a:avLst/>
          </a:prstGeom>
        </p:spPr>
      </p:pic>
      <p:pic>
        <p:nvPicPr>
          <p:cNvPr id="9" name="Picture 8" descr="A picture containing text&#10;&#10;AI-generated content may be incorrect.">
            <a:extLst>
              <a:ext uri="{FF2B5EF4-FFF2-40B4-BE49-F238E27FC236}">
                <a16:creationId xmlns:a16="http://schemas.microsoft.com/office/drawing/2014/main" id="{D5E34136-B60C-D95A-1424-61EDF6840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3535" y="4703185"/>
            <a:ext cx="1579425" cy="1947206"/>
          </a:xfrm>
          <a:prstGeom prst="rect">
            <a:avLst/>
          </a:prstGeom>
        </p:spPr>
      </p:pic>
      <p:pic>
        <p:nvPicPr>
          <p:cNvPr id="13" name="Picture 12" descr="A picture containing snow&#10;&#10;AI-generated content may be incorrect.">
            <a:extLst>
              <a:ext uri="{FF2B5EF4-FFF2-40B4-BE49-F238E27FC236}">
                <a16:creationId xmlns:a16="http://schemas.microsoft.com/office/drawing/2014/main" id="{3D04B5F5-A2B6-D214-3A43-8DAACE9E0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2928" y="4703185"/>
            <a:ext cx="1735855" cy="1947206"/>
          </a:xfrm>
          <a:prstGeom prst="rect">
            <a:avLst/>
          </a:prstGeom>
        </p:spPr>
      </p:pic>
      <p:pic>
        <p:nvPicPr>
          <p:cNvPr id="17" name="Picture 16" descr="Map&#10;&#10;AI-generated content may be incorrect.">
            <a:extLst>
              <a:ext uri="{FF2B5EF4-FFF2-40B4-BE49-F238E27FC236}">
                <a16:creationId xmlns:a16="http://schemas.microsoft.com/office/drawing/2014/main" id="{59EED5A8-878D-9758-8C6C-A7B439DC45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122" y="228600"/>
            <a:ext cx="2415117" cy="3200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92192C6-A59D-3607-C159-100360CC5FBA}"/>
              </a:ext>
            </a:extLst>
          </p:cNvPr>
          <p:cNvSpPr txBox="1"/>
          <p:nvPr/>
        </p:nvSpPr>
        <p:spPr>
          <a:xfrm>
            <a:off x="1018899" y="996928"/>
            <a:ext cx="875561" cy="369332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2018m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6860F1-8EEF-E0FB-2482-0AAE20300658}"/>
              </a:ext>
            </a:extLst>
          </p:cNvPr>
          <p:cNvSpPr txBox="1"/>
          <p:nvPr/>
        </p:nvSpPr>
        <p:spPr>
          <a:xfrm>
            <a:off x="4430099" y="1074869"/>
            <a:ext cx="1107804" cy="64633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USWTDB</a:t>
            </a:r>
            <a:br>
              <a:rPr lang="en-US" dirty="0"/>
            </a:br>
            <a:r>
              <a:rPr lang="en-US" dirty="0"/>
              <a:t>locations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EE0DB22-B68D-EEC2-53A4-C7965B1D0BDE}"/>
              </a:ext>
            </a:extLst>
          </p:cNvPr>
          <p:cNvGrpSpPr/>
          <p:nvPr/>
        </p:nvGrpSpPr>
        <p:grpSpPr>
          <a:xfrm>
            <a:off x="249122" y="3565525"/>
            <a:ext cx="2455606" cy="3200400"/>
            <a:chOff x="3000788" y="1360993"/>
            <a:chExt cx="2455606" cy="3200400"/>
          </a:xfrm>
        </p:grpSpPr>
        <p:pic>
          <p:nvPicPr>
            <p:cNvPr id="19" name="Picture 18" descr="Map&#10;&#10;AI-generated content may be incorrect.">
              <a:extLst>
                <a:ext uri="{FF2B5EF4-FFF2-40B4-BE49-F238E27FC236}">
                  <a16:creationId xmlns:a16="http://schemas.microsoft.com/office/drawing/2014/main" id="{9479B644-C775-9447-49B4-AF49A05C1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00788" y="1360993"/>
              <a:ext cx="2455606" cy="3200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B0A2231-EF2D-0871-CA36-7AF650E4E6F5}"/>
                </a:ext>
              </a:extLst>
            </p:cNvPr>
            <p:cNvSpPr txBox="1"/>
            <p:nvPr/>
          </p:nvSpPr>
          <p:spPr>
            <a:xfrm>
              <a:off x="3824473" y="2129321"/>
              <a:ext cx="808235" cy="369332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2020d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9CAA385-0F17-A5E8-41AA-A754D5938FFF}"/>
              </a:ext>
            </a:extLst>
          </p:cNvPr>
          <p:cNvSpPr txBox="1"/>
          <p:nvPr/>
        </p:nvSpPr>
        <p:spPr>
          <a:xfrm>
            <a:off x="7903122" y="2492624"/>
            <a:ext cx="1581074" cy="369332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local network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FB4B8D3-FD65-19E2-6DB7-293B11AA3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134" y="4605867"/>
            <a:ext cx="5416433" cy="4079324"/>
          </a:xfrm>
        </p:spPr>
        <p:txBody>
          <a:bodyPr>
            <a:normAutofit/>
          </a:bodyPr>
          <a:lstStyle/>
          <a:p>
            <a:r>
              <a:rPr lang="en-US" sz="1400" dirty="0"/>
              <a:t>Original model seems to select node closest to the middle of Nevada to represent all Nevada generation</a:t>
            </a:r>
          </a:p>
          <a:p>
            <a:r>
              <a:rPr lang="en-US" sz="1400" dirty="0"/>
              <a:t>USWTDB GIS data proves that generation is actually near the edges of the state</a:t>
            </a:r>
          </a:p>
          <a:p>
            <a:r>
              <a:rPr lang="en-US" sz="1400" dirty="0"/>
              <a:t>New, data-driven approach seems to be a better match of reality than the original model</a:t>
            </a:r>
          </a:p>
          <a:p>
            <a:r>
              <a:rPr lang="en-US" sz="1400" dirty="0"/>
              <a:t>(note the one, single turbine in the middle of the state ➡️)</a:t>
            </a:r>
          </a:p>
        </p:txBody>
      </p:sp>
    </p:spTree>
    <p:extLst>
      <p:ext uri="{BB962C8B-B14F-4D97-AF65-F5344CB8AC3E}">
        <p14:creationId xmlns:p14="http://schemas.microsoft.com/office/powerpoint/2010/main" val="2401984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3A39-48A5-319F-0034-E3F8D69A0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PV+WT in BC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9FB18-C1CF-ECFC-4535-71259E2C9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2011m and 2018m place PV and WT generation at the Vancouver, BC WECC node in Canada</a:t>
            </a:r>
          </a:p>
          <a:p>
            <a:r>
              <a:rPr lang="en-US" dirty="0"/>
              <a:t>The </a:t>
            </a:r>
            <a:r>
              <a:rPr lang="en-US" i="1" dirty="0"/>
              <a:t>United States</a:t>
            </a:r>
            <a:r>
              <a:rPr lang="en-US" dirty="0"/>
              <a:t> Photovoltaic and Wind Turbine Databases do not cover this region!</a:t>
            </a:r>
          </a:p>
          <a:p>
            <a:r>
              <a:rPr lang="en-US" dirty="0"/>
              <a:t>New data-driven method does not place generation here (because there are no Canadian systems in the DB)</a:t>
            </a:r>
          </a:p>
          <a:p>
            <a:r>
              <a:rPr lang="en-US" dirty="0"/>
              <a:t>Need to manually add generation to this node</a:t>
            </a:r>
          </a:p>
        </p:txBody>
      </p:sp>
    </p:spTree>
    <p:extLst>
      <p:ext uri="{BB962C8B-B14F-4D97-AF65-F5344CB8AC3E}">
        <p14:creationId xmlns:p14="http://schemas.microsoft.com/office/powerpoint/2010/main" val="1846660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33FA9-58F6-7420-55A2-4CA731D35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CA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C32E4-A3EF-DD2A-818F-688B508E3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Discrepancies in wind and solar generation in California between old models and new method will be resolved in favor of the new method</a:t>
            </a:r>
          </a:p>
          <a:p>
            <a:r>
              <a:rPr lang="en-US" dirty="0"/>
              <a:t>Nodes that are “removed” from the old models have one or more neighboring nodes “added in”</a:t>
            </a:r>
          </a:p>
          <a:p>
            <a:r>
              <a:rPr lang="en-US" dirty="0"/>
              <a:t>More or less the same logic from the NV case study applies</a:t>
            </a:r>
          </a:p>
        </p:txBody>
      </p:sp>
    </p:spTree>
    <p:extLst>
      <p:ext uri="{BB962C8B-B14F-4D97-AF65-F5344CB8AC3E}">
        <p14:creationId xmlns:p14="http://schemas.microsoft.com/office/powerpoint/2010/main" val="382068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B6ACE-B3E4-1E03-FD86-2F3DF77D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process for generation mix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96C02-3CD4-146B-6BC7-452B90807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Load PV/WT generator data from database (USPVDB, USWTDB)</a:t>
            </a:r>
          </a:p>
          <a:p>
            <a:r>
              <a:rPr lang="en-US" dirty="0"/>
              <a:t>Load WECC county information</a:t>
            </a:r>
          </a:p>
          <a:p>
            <a:r>
              <a:rPr lang="en-US" dirty="0"/>
              <a:t>Join generators on county data to find generators in WECC service area</a:t>
            </a:r>
          </a:p>
          <a:p>
            <a:r>
              <a:rPr lang="en-US" dirty="0"/>
              <a:t>Calculate Haversine distance between each generator and each 126 unique WECC node locations</a:t>
            </a:r>
          </a:p>
          <a:p>
            <a:r>
              <a:rPr lang="en-US" dirty="0"/>
              <a:t>Associate generators to closest nodes</a:t>
            </a:r>
          </a:p>
          <a:p>
            <a:r>
              <a:rPr lang="en-US" dirty="0"/>
              <a:t>Add PV and WT generation to Vancouver, BC</a:t>
            </a:r>
          </a:p>
          <a:p>
            <a:endParaRPr lang="en-US" dirty="0"/>
          </a:p>
          <a:p>
            <a:r>
              <a:rPr lang="en-US" dirty="0"/>
              <a:t>Final caveat/detail: 20kV substations?</a:t>
            </a:r>
          </a:p>
        </p:txBody>
      </p:sp>
    </p:spTree>
    <p:extLst>
      <p:ext uri="{BB962C8B-B14F-4D97-AF65-F5344CB8AC3E}">
        <p14:creationId xmlns:p14="http://schemas.microsoft.com/office/powerpoint/2010/main" val="3668587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20228</TotalTime>
  <Words>954</Words>
  <Application>Microsoft Macintosh PowerPoint</Application>
  <PresentationFormat>Widescreen</PresentationFormat>
  <Paragraphs>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Update on WECC node renewable generation </vt:lpstr>
      <vt:lpstr>Background </vt:lpstr>
      <vt:lpstr>Summary</vt:lpstr>
      <vt:lpstr>Timeline of recent events</vt:lpstr>
      <vt:lpstr>Previous WECC models</vt:lpstr>
      <vt:lpstr>USGS US{PV,WT}DB based approach</vt:lpstr>
      <vt:lpstr>PV and WT growth in WECC based on USPVDBD and USWTDB</vt:lpstr>
      <vt:lpstr>“Supervenn” diagram of seven mix estimates</vt:lpstr>
      <vt:lpstr>Locations in 2018m but not 2022d</vt:lpstr>
      <vt:lpstr>Approach from previous papers/models</vt:lpstr>
      <vt:lpstr>Comments on previous papers/models</vt:lpstr>
      <vt:lpstr>Case study: Wind in NV</vt:lpstr>
      <vt:lpstr>Case study PV+WT in BC</vt:lpstr>
      <vt:lpstr>Changes to CA nodes</vt:lpstr>
      <vt:lpstr>New process for generation mix modeling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Meyers-Im, Bennet</dc:creator>
  <cp:lastModifiedBy>Meyers-Im, Bennet</cp:lastModifiedBy>
  <cp:revision>8</cp:revision>
  <dcterms:created xsi:type="dcterms:W3CDTF">2025-11-17T19:31:33Z</dcterms:created>
  <dcterms:modified xsi:type="dcterms:W3CDTF">2025-12-01T20:40:20Z</dcterms:modified>
</cp:coreProperties>
</file>